
<file path=[Content_Types].xml><?xml version="1.0" encoding="utf-8"?>
<Types xmlns="http://schemas.openxmlformats.org/package/2006/content-types">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162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tmp"/></Relationships>
</file>

<file path=ppt/slides/_rels/slide10.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tmp"/><Relationship Id="rId4" Type="http://schemas.openxmlformats.org/officeDocument/2006/relationships/image" Target="../media/image6.tmp"/></Relationships>
</file>

<file path=ppt/slides/_rels/slide12.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tmp"/></Relationships>
</file>

<file path=ppt/slides/_rels/slide13.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tmp"/></Relationships>
</file>

<file path=ppt/slides/_rels/slide14.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tmp"/></Relationships>
</file>

<file path=ppt/slides/_rels/slide1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tmp"/></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a:effectLst/>
      </p:bgPr>
    </p:bg>
    <p:spTree>
      <p:nvGrpSpPr>
        <p:cNvPr id="1" name=""/>
        <p:cNvGrpSpPr/>
        <p:nvPr/>
      </p:nvGrpSpPr>
      <p:grpSpPr>
        <a:xfrm>
          <a:off x="0" y="0"/>
          <a:ext cx="0" cy="0"/>
          <a:chOff x="0" y="0"/>
          <a:chExt cx="0" cy="0"/>
        </a:xfrm>
      </p:grpSpPr>
      <p:sp>
        <p:nvSpPr>
          <p:cNvPr id="2" name="Text 0"/>
          <p:cNvSpPr/>
          <p:nvPr/>
        </p:nvSpPr>
        <p:spPr>
          <a:xfrm>
            <a:off x="548640" y="1874520"/>
            <a:ext cx="1106424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Q1 2024 Performance:</a:t>
            </a:r>
            <a:endParaRPr lang="en-US" sz="4400" dirty="0"/>
          </a:p>
        </p:txBody>
      </p:sp>
      <p:sp>
        <p:nvSpPr>
          <p:cNvPr id="3" name="Text 1"/>
          <p:cNvSpPr/>
          <p:nvPr/>
        </p:nvSpPr>
        <p:spPr>
          <a:xfrm>
            <a:off x="548640" y="2651760"/>
            <a:ext cx="11064240" cy="777240"/>
          </a:xfrm>
          <a:prstGeom prst="rect">
            <a:avLst/>
          </a:prstGeom>
          <a:noFill/>
          <a:ln/>
        </p:spPr>
        <p:txBody>
          <a:bodyPr wrap="square" lIns="0" tIns="0" rIns="0" bIns="0" rtlCol="0" anchor="ctr"/>
          <a:lstStyle/>
          <a:p>
            <a:pPr marL="0" indent="0">
              <a:buNone/>
            </a:pPr>
            <a:r>
              <a:rPr lang="en-US" sz="4400" b="1" dirty="0">
                <a:solidFill>
                  <a:srgbClr val="ECE2D0"/>
                </a:solidFill>
                <a:latin typeface="Cambria" pitchFamily="34" charset="0"/>
                <a:ea typeface="Cambria" pitchFamily="34" charset="-122"/>
                <a:cs typeface="Cambria" pitchFamily="34" charset="-120"/>
              </a:rPr>
              <a:t>Where to Focus in Q2</a:t>
            </a:r>
            <a:endParaRPr lang="en-US" sz="4400" dirty="0"/>
          </a:p>
        </p:txBody>
      </p:sp>
      <p:sp>
        <p:nvSpPr>
          <p:cNvPr id="4" name="Text 2"/>
          <p:cNvSpPr/>
          <p:nvPr/>
        </p:nvSpPr>
        <p:spPr>
          <a:xfrm>
            <a:off x="548640" y="3611880"/>
            <a:ext cx="11064240" cy="365760"/>
          </a:xfrm>
          <a:prstGeom prst="rect">
            <a:avLst/>
          </a:prstGeom>
          <a:noFill/>
          <a:ln/>
        </p:spPr>
        <p:txBody>
          <a:bodyPr wrap="square" lIns="0" tIns="0" rIns="0" bIns="0" rtlCol="0" anchor="ctr"/>
          <a:lstStyle/>
          <a:p>
            <a:pPr marL="0" indent="0">
              <a:buNone/>
            </a:pPr>
            <a:r>
              <a:rPr lang="en-US" sz="1600" dirty="0">
                <a:solidFill>
                  <a:srgbClr val="ECE2D0"/>
                </a:solidFill>
                <a:latin typeface="Calibri" pitchFamily="34" charset="0"/>
                <a:ea typeface="Calibri" pitchFamily="34" charset="-122"/>
                <a:cs typeface="Calibri" pitchFamily="34" charset="-120"/>
              </a:rPr>
              <a:t>National Bookstore Group  ·  Genre, Region &amp; Publisher Review</a:t>
            </a:r>
            <a:endParaRPr lang="en-US" sz="1600" dirty="0"/>
          </a:p>
        </p:txBody>
      </p:sp>
      <p:sp>
        <p:nvSpPr>
          <p:cNvPr id="5" name="Text 3"/>
          <p:cNvSpPr/>
          <p:nvPr/>
        </p:nvSpPr>
        <p:spPr>
          <a:xfrm>
            <a:off x="548640" y="4023360"/>
            <a:ext cx="11064240" cy="365760"/>
          </a:xfrm>
          <a:prstGeom prst="rect">
            <a:avLst/>
          </a:prstGeom>
          <a:noFill/>
          <a:ln/>
        </p:spPr>
        <p:txBody>
          <a:bodyPr wrap="square" lIns="0" tIns="0" rIns="0" bIns="0" rtlCol="0" anchor="ctr"/>
          <a:lstStyle/>
          <a:p>
            <a:pPr marL="0" indent="0">
              <a:buNone/>
            </a:pPr>
            <a:r>
              <a:rPr lang="en-US" sz="1300" i="1" dirty="0">
                <a:solidFill>
                  <a:srgbClr val="ECE2D0"/>
                </a:solidFill>
                <a:latin typeface="Calibri" pitchFamily="34" charset="0"/>
                <a:ea typeface="Calibri" pitchFamily="34" charset="-122"/>
                <a:cs typeface="Calibri" pitchFamily="34" charset="-120"/>
              </a:rPr>
              <a:t>750 orders   ·   $73,792.73 total sales   ·   January – March 2024</a:t>
            </a:r>
            <a:endParaRPr lang="en-US" sz="1300" dirty="0"/>
          </a:p>
        </p:txBody>
      </p:sp>
      <p:sp>
        <p:nvSpPr>
          <p:cNvPr id="6" name="Text 4"/>
          <p:cNvSpPr/>
          <p:nvPr/>
        </p:nvSpPr>
        <p:spPr>
          <a:xfrm>
            <a:off x="548640" y="5760720"/>
            <a:ext cx="110642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January Sambrook   |   Junior Data Analyst   |   Tableau Final Project</a:t>
            </a:r>
            <a:endParaRPr lang="en-US" sz="1300" dirty="0"/>
          </a:p>
        </p:txBody>
      </p:sp>
      <p:sp>
        <p:nvSpPr>
          <p:cNvPr id="7" name="Text 5"/>
          <p:cNvSpPr/>
          <p:nvPr/>
        </p:nvSpPr>
        <p:spPr>
          <a:xfrm>
            <a:off x="548640" y="6089904"/>
            <a:ext cx="11064240" cy="292608"/>
          </a:xfrm>
          <a:prstGeom prst="rect">
            <a:avLst/>
          </a:prstGeom>
          <a:noFill/>
          <a:ln/>
        </p:spPr>
        <p:txBody>
          <a:bodyPr wrap="square" lIns="0" tIns="0" rIns="0" bIns="0" rtlCol="0" anchor="ctr"/>
          <a:lstStyle/>
          <a:p>
            <a:pPr marL="0" indent="0">
              <a:buNone/>
            </a:pPr>
            <a:r>
              <a:rPr lang="en-US" sz="1200" dirty="0">
                <a:solidFill>
                  <a:srgbClr val="ECE2D0"/>
                </a:solidFill>
                <a:latin typeface="Calibri" pitchFamily="34" charset="0"/>
                <a:ea typeface="Calibri" pitchFamily="34" charset="-122"/>
                <a:cs typeface="Calibri" pitchFamily="34" charset="-120"/>
              </a:rPr>
              <a:t>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Project Brief</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What management asked for, and how this analysis answers it</a:t>
            </a:r>
            <a:endParaRPr lang="en-US" sz="1300" dirty="0"/>
          </a:p>
        </p:txBody>
      </p:sp>
      <p:sp>
        <p:nvSpPr>
          <p:cNvPr id="6" name="Text 4"/>
          <p:cNvSpPr/>
          <p:nvPr/>
        </p:nvSpPr>
        <p:spPr>
          <a:xfrm>
            <a:off x="548640" y="1417320"/>
            <a:ext cx="5486400" cy="292608"/>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Overview</a:t>
            </a:r>
            <a:endParaRPr lang="en-US" sz="2000" dirty="0"/>
          </a:p>
        </p:txBody>
      </p:sp>
      <p:sp>
        <p:nvSpPr>
          <p:cNvPr id="7" name="Text 5"/>
          <p:cNvSpPr/>
          <p:nvPr/>
        </p:nvSpPr>
        <p:spPr>
          <a:xfrm>
            <a:off x="548640" y="1755648"/>
            <a:ext cx="5486400" cy="8686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 national bookstore group selling across four U.S. regions requested a Q1 2024 performance review. The purpose is to direct marketing spend and purchasing decisions for Q2 2024.</a:t>
            </a:r>
            <a:endParaRPr lang="en-US" sz="1600" dirty="0"/>
          </a:p>
        </p:txBody>
      </p:sp>
      <p:sp>
        <p:nvSpPr>
          <p:cNvPr id="8" name="Text 6"/>
          <p:cNvSpPr/>
          <p:nvPr/>
        </p:nvSpPr>
        <p:spPr>
          <a:xfrm>
            <a:off x="548640" y="2743200"/>
            <a:ext cx="5486400" cy="292608"/>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Objectives</a:t>
            </a:r>
            <a:endParaRPr lang="en-US" sz="2000" dirty="0"/>
          </a:p>
        </p:txBody>
      </p:sp>
      <p:sp>
        <p:nvSpPr>
          <p:cNvPr id="9" name="Text 7"/>
          <p:cNvSpPr/>
          <p:nvPr/>
        </p:nvSpPr>
        <p:spPr>
          <a:xfrm>
            <a:off x="548640" y="3090672"/>
            <a:ext cx="54864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Establish which genres drive revenue</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Compare regional performance and identify underserved markets</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Rank publisher partners by contribution</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Track how sales accumulated week by week across the quarter</a:t>
            </a:r>
            <a:endParaRPr lang="en-US" sz="1600" dirty="0"/>
          </a:p>
        </p:txBody>
      </p:sp>
      <p:sp>
        <p:nvSpPr>
          <p:cNvPr id="10" name="Text 8"/>
          <p:cNvSpPr/>
          <p:nvPr/>
        </p:nvSpPr>
        <p:spPr>
          <a:xfrm>
            <a:off x="6400800" y="1417320"/>
            <a:ext cx="5212080" cy="292608"/>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Key Questions</a:t>
            </a:r>
            <a:endParaRPr lang="en-US" sz="2000" dirty="0"/>
          </a:p>
        </p:txBody>
      </p:sp>
      <p:sp>
        <p:nvSpPr>
          <p:cNvPr id="11" name="Shape 9"/>
          <p:cNvSpPr/>
          <p:nvPr/>
        </p:nvSpPr>
        <p:spPr>
          <a:xfrm>
            <a:off x="6400800" y="1810512"/>
            <a:ext cx="5212080" cy="548640"/>
          </a:xfrm>
          <a:prstGeom prst="roundRect">
            <a:avLst>
              <a:gd name="adj" fmla="val 10000"/>
            </a:avLst>
          </a:prstGeom>
          <a:solidFill>
            <a:srgbClr val="ECE2D0"/>
          </a:solidFill>
          <a:ln w="12700">
            <a:solidFill>
              <a:srgbClr val="ECE2D0"/>
            </a:solidFill>
            <a:prstDash val="solid"/>
          </a:ln>
        </p:spPr>
        <p:txBody>
          <a:bodyPr/>
          <a:lstStyle/>
          <a:p>
            <a:endParaRPr lang="en-GB" sz="2400"/>
          </a:p>
        </p:txBody>
      </p:sp>
      <p:sp>
        <p:nvSpPr>
          <p:cNvPr id="12" name="Text 10"/>
          <p:cNvSpPr/>
          <p:nvPr/>
        </p:nvSpPr>
        <p:spPr>
          <a:xfrm>
            <a:off x="6528816" y="1810512"/>
            <a:ext cx="457200" cy="548640"/>
          </a:xfrm>
          <a:prstGeom prst="rect">
            <a:avLst/>
          </a:prstGeom>
          <a:noFill/>
          <a:ln/>
        </p:spPr>
        <p:txBody>
          <a:bodyPr wrap="square" lIns="0" tIns="0" rIns="0" bIns="0" rtlCol="0" anchor="ctr"/>
          <a:lstStyle/>
          <a:p>
            <a:pPr marL="0" indent="0">
              <a:buNone/>
            </a:pPr>
            <a:r>
              <a:rPr lang="en-US" b="1" dirty="0">
                <a:solidFill>
                  <a:srgbClr val="A26769"/>
                </a:solidFill>
                <a:latin typeface="Cambria" pitchFamily="34" charset="0"/>
                <a:ea typeface="Cambria" pitchFamily="34" charset="-122"/>
                <a:cs typeface="Cambria" pitchFamily="34" charset="-120"/>
              </a:rPr>
              <a:t>Q1</a:t>
            </a:r>
            <a:endParaRPr lang="en-US" dirty="0"/>
          </a:p>
        </p:txBody>
      </p:sp>
      <p:sp>
        <p:nvSpPr>
          <p:cNvPr id="13" name="Text 11"/>
          <p:cNvSpPr/>
          <p:nvPr/>
        </p:nvSpPr>
        <p:spPr>
          <a:xfrm>
            <a:off x="7022592" y="1810512"/>
            <a:ext cx="4462272"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Which genres generated the highest sales?</a:t>
            </a:r>
            <a:endParaRPr lang="en-US" sz="1600" dirty="0"/>
          </a:p>
        </p:txBody>
      </p:sp>
      <p:sp>
        <p:nvSpPr>
          <p:cNvPr id="14" name="Shape 12"/>
          <p:cNvSpPr/>
          <p:nvPr/>
        </p:nvSpPr>
        <p:spPr>
          <a:xfrm>
            <a:off x="6400800" y="2468880"/>
            <a:ext cx="5212080" cy="548640"/>
          </a:xfrm>
          <a:prstGeom prst="roundRect">
            <a:avLst>
              <a:gd name="adj" fmla="val 10000"/>
            </a:avLst>
          </a:prstGeom>
          <a:solidFill>
            <a:srgbClr val="ECE2D0"/>
          </a:solidFill>
          <a:ln w="12700">
            <a:solidFill>
              <a:srgbClr val="ECE2D0"/>
            </a:solidFill>
            <a:prstDash val="solid"/>
          </a:ln>
        </p:spPr>
        <p:txBody>
          <a:bodyPr/>
          <a:lstStyle/>
          <a:p>
            <a:endParaRPr lang="en-GB" sz="2400"/>
          </a:p>
        </p:txBody>
      </p:sp>
      <p:sp>
        <p:nvSpPr>
          <p:cNvPr id="15" name="Text 13"/>
          <p:cNvSpPr/>
          <p:nvPr/>
        </p:nvSpPr>
        <p:spPr>
          <a:xfrm>
            <a:off x="6528816" y="2468880"/>
            <a:ext cx="457200" cy="548640"/>
          </a:xfrm>
          <a:prstGeom prst="rect">
            <a:avLst/>
          </a:prstGeom>
          <a:noFill/>
          <a:ln/>
        </p:spPr>
        <p:txBody>
          <a:bodyPr wrap="square" lIns="0" tIns="0" rIns="0" bIns="0" rtlCol="0" anchor="ctr"/>
          <a:lstStyle/>
          <a:p>
            <a:pPr marL="0" indent="0">
              <a:buNone/>
            </a:pPr>
            <a:r>
              <a:rPr lang="en-US" b="1" dirty="0">
                <a:solidFill>
                  <a:srgbClr val="A26769"/>
                </a:solidFill>
                <a:latin typeface="Cambria" pitchFamily="34" charset="0"/>
                <a:ea typeface="Cambria" pitchFamily="34" charset="-122"/>
                <a:cs typeface="Cambria" pitchFamily="34" charset="-120"/>
              </a:rPr>
              <a:t>Q2</a:t>
            </a:r>
            <a:endParaRPr lang="en-US" dirty="0"/>
          </a:p>
        </p:txBody>
      </p:sp>
      <p:sp>
        <p:nvSpPr>
          <p:cNvPr id="16" name="Text 14"/>
          <p:cNvSpPr/>
          <p:nvPr/>
        </p:nvSpPr>
        <p:spPr>
          <a:xfrm>
            <a:off x="7022592" y="2468880"/>
            <a:ext cx="4462272"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How does performance vary by region and state?</a:t>
            </a:r>
            <a:endParaRPr lang="en-US" sz="1600" dirty="0"/>
          </a:p>
        </p:txBody>
      </p:sp>
      <p:sp>
        <p:nvSpPr>
          <p:cNvPr id="17" name="Shape 15"/>
          <p:cNvSpPr/>
          <p:nvPr/>
        </p:nvSpPr>
        <p:spPr>
          <a:xfrm>
            <a:off x="6400800" y="3127248"/>
            <a:ext cx="5212080" cy="548640"/>
          </a:xfrm>
          <a:prstGeom prst="roundRect">
            <a:avLst>
              <a:gd name="adj" fmla="val 10000"/>
            </a:avLst>
          </a:prstGeom>
          <a:solidFill>
            <a:srgbClr val="ECE2D0"/>
          </a:solidFill>
          <a:ln w="12700">
            <a:solidFill>
              <a:srgbClr val="ECE2D0"/>
            </a:solidFill>
            <a:prstDash val="solid"/>
          </a:ln>
        </p:spPr>
        <p:txBody>
          <a:bodyPr/>
          <a:lstStyle/>
          <a:p>
            <a:endParaRPr lang="en-GB" sz="2400"/>
          </a:p>
        </p:txBody>
      </p:sp>
      <p:sp>
        <p:nvSpPr>
          <p:cNvPr id="18" name="Text 16"/>
          <p:cNvSpPr/>
          <p:nvPr/>
        </p:nvSpPr>
        <p:spPr>
          <a:xfrm>
            <a:off x="6528816" y="3127248"/>
            <a:ext cx="457200" cy="548640"/>
          </a:xfrm>
          <a:prstGeom prst="rect">
            <a:avLst/>
          </a:prstGeom>
          <a:noFill/>
          <a:ln/>
        </p:spPr>
        <p:txBody>
          <a:bodyPr wrap="square" lIns="0" tIns="0" rIns="0" bIns="0" rtlCol="0" anchor="ctr"/>
          <a:lstStyle/>
          <a:p>
            <a:pPr marL="0" indent="0">
              <a:buNone/>
            </a:pPr>
            <a:r>
              <a:rPr lang="en-US" b="1" dirty="0">
                <a:solidFill>
                  <a:srgbClr val="A26769"/>
                </a:solidFill>
                <a:latin typeface="Cambria" pitchFamily="34" charset="0"/>
                <a:ea typeface="Cambria" pitchFamily="34" charset="-122"/>
                <a:cs typeface="Cambria" pitchFamily="34" charset="-120"/>
              </a:rPr>
              <a:t>Q3</a:t>
            </a:r>
            <a:endParaRPr lang="en-US" dirty="0"/>
          </a:p>
        </p:txBody>
      </p:sp>
      <p:sp>
        <p:nvSpPr>
          <p:cNvPr id="19" name="Text 17"/>
          <p:cNvSpPr/>
          <p:nvPr/>
        </p:nvSpPr>
        <p:spPr>
          <a:xfrm>
            <a:off x="7022592" y="3127248"/>
            <a:ext cx="4462272"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Which publishers are top and bottom performers?</a:t>
            </a:r>
            <a:endParaRPr lang="en-US" sz="1600" dirty="0"/>
          </a:p>
        </p:txBody>
      </p:sp>
      <p:sp>
        <p:nvSpPr>
          <p:cNvPr id="20" name="Shape 18"/>
          <p:cNvSpPr/>
          <p:nvPr/>
        </p:nvSpPr>
        <p:spPr>
          <a:xfrm>
            <a:off x="6400800" y="3785616"/>
            <a:ext cx="5212080" cy="548640"/>
          </a:xfrm>
          <a:prstGeom prst="roundRect">
            <a:avLst>
              <a:gd name="adj" fmla="val 10000"/>
            </a:avLst>
          </a:prstGeom>
          <a:solidFill>
            <a:srgbClr val="ECE2D0"/>
          </a:solidFill>
          <a:ln w="12700">
            <a:solidFill>
              <a:srgbClr val="ECE2D0"/>
            </a:solidFill>
            <a:prstDash val="solid"/>
          </a:ln>
        </p:spPr>
        <p:txBody>
          <a:bodyPr/>
          <a:lstStyle/>
          <a:p>
            <a:endParaRPr lang="en-GB" sz="2400"/>
          </a:p>
        </p:txBody>
      </p:sp>
      <p:sp>
        <p:nvSpPr>
          <p:cNvPr id="21" name="Text 19"/>
          <p:cNvSpPr/>
          <p:nvPr/>
        </p:nvSpPr>
        <p:spPr>
          <a:xfrm>
            <a:off x="6528816" y="3785616"/>
            <a:ext cx="457200" cy="548640"/>
          </a:xfrm>
          <a:prstGeom prst="rect">
            <a:avLst/>
          </a:prstGeom>
          <a:noFill/>
          <a:ln/>
        </p:spPr>
        <p:txBody>
          <a:bodyPr wrap="square" lIns="0" tIns="0" rIns="0" bIns="0" rtlCol="0" anchor="ctr"/>
          <a:lstStyle/>
          <a:p>
            <a:pPr marL="0" indent="0">
              <a:buNone/>
            </a:pPr>
            <a:r>
              <a:rPr lang="en-US" b="1" dirty="0">
                <a:solidFill>
                  <a:srgbClr val="A26769"/>
                </a:solidFill>
                <a:latin typeface="Cambria" pitchFamily="34" charset="0"/>
                <a:ea typeface="Cambria" pitchFamily="34" charset="-122"/>
                <a:cs typeface="Cambria" pitchFamily="34" charset="-120"/>
              </a:rPr>
              <a:t>Q4</a:t>
            </a:r>
            <a:endParaRPr lang="en-US" dirty="0"/>
          </a:p>
        </p:txBody>
      </p:sp>
      <p:sp>
        <p:nvSpPr>
          <p:cNvPr id="22" name="Text 20"/>
          <p:cNvSpPr/>
          <p:nvPr/>
        </p:nvSpPr>
        <p:spPr>
          <a:xfrm>
            <a:off x="7022592" y="3785616"/>
            <a:ext cx="4462272"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Did sales grow, hold or decline across the quarter?</a:t>
            </a:r>
            <a:endParaRPr lang="en-US" sz="1600" dirty="0"/>
          </a:p>
        </p:txBody>
      </p:sp>
      <p:sp>
        <p:nvSpPr>
          <p:cNvPr id="23" name="Shape 21"/>
          <p:cNvSpPr/>
          <p:nvPr/>
        </p:nvSpPr>
        <p:spPr>
          <a:xfrm>
            <a:off x="6400800" y="4443984"/>
            <a:ext cx="5212080" cy="548640"/>
          </a:xfrm>
          <a:prstGeom prst="roundRect">
            <a:avLst>
              <a:gd name="adj" fmla="val 10000"/>
            </a:avLst>
          </a:prstGeom>
          <a:solidFill>
            <a:srgbClr val="ECE2D0"/>
          </a:solidFill>
          <a:ln w="12700">
            <a:solidFill>
              <a:srgbClr val="ECE2D0"/>
            </a:solidFill>
            <a:prstDash val="solid"/>
          </a:ln>
        </p:spPr>
        <p:txBody>
          <a:bodyPr/>
          <a:lstStyle/>
          <a:p>
            <a:endParaRPr lang="en-GB" sz="2400"/>
          </a:p>
        </p:txBody>
      </p:sp>
      <p:sp>
        <p:nvSpPr>
          <p:cNvPr id="24" name="Text 22"/>
          <p:cNvSpPr/>
          <p:nvPr/>
        </p:nvSpPr>
        <p:spPr>
          <a:xfrm>
            <a:off x="6528816" y="4443984"/>
            <a:ext cx="457200" cy="548640"/>
          </a:xfrm>
          <a:prstGeom prst="rect">
            <a:avLst/>
          </a:prstGeom>
          <a:noFill/>
          <a:ln/>
        </p:spPr>
        <p:txBody>
          <a:bodyPr wrap="square" lIns="0" tIns="0" rIns="0" bIns="0" rtlCol="0" anchor="ctr"/>
          <a:lstStyle/>
          <a:p>
            <a:pPr marL="0" indent="0">
              <a:buNone/>
            </a:pPr>
            <a:r>
              <a:rPr lang="en-US" b="1" dirty="0">
                <a:solidFill>
                  <a:srgbClr val="A26769"/>
                </a:solidFill>
                <a:latin typeface="Cambria" pitchFamily="34" charset="0"/>
                <a:ea typeface="Cambria" pitchFamily="34" charset="-122"/>
                <a:cs typeface="Cambria" pitchFamily="34" charset="-120"/>
              </a:rPr>
              <a:t>Q5</a:t>
            </a:r>
            <a:endParaRPr lang="en-US" dirty="0"/>
          </a:p>
        </p:txBody>
      </p:sp>
      <p:sp>
        <p:nvSpPr>
          <p:cNvPr id="25" name="Text 23"/>
          <p:cNvSpPr/>
          <p:nvPr/>
        </p:nvSpPr>
        <p:spPr>
          <a:xfrm>
            <a:off x="7022592" y="4443984"/>
            <a:ext cx="4462272"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Do large orders or high-priced books drive revenue?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Dataset Overview</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Source, scale and relevance of the data supplied</a:t>
            </a:r>
            <a:endParaRPr lang="en-US" sz="1300" dirty="0"/>
          </a:p>
        </p:txBody>
      </p:sp>
      <p:sp>
        <p:nvSpPr>
          <p:cNvPr id="6" name="Shape 4"/>
          <p:cNvSpPr/>
          <p:nvPr/>
        </p:nvSpPr>
        <p:spPr>
          <a:xfrm>
            <a:off x="548640" y="1463040"/>
            <a:ext cx="2606040" cy="1097280"/>
          </a:xfrm>
          <a:prstGeom prst="roundRect">
            <a:avLst>
              <a:gd name="adj" fmla="val 6667"/>
            </a:avLst>
          </a:prstGeom>
          <a:solidFill>
            <a:srgbClr val="ECE2D0"/>
          </a:solidFill>
          <a:ln w="12700">
            <a:solidFill>
              <a:srgbClr val="ECE2D0"/>
            </a:solidFill>
            <a:prstDash val="solid"/>
          </a:ln>
        </p:spPr>
        <p:txBody>
          <a:bodyPr/>
          <a:lstStyle/>
          <a:p>
            <a:endParaRPr lang="en-GB"/>
          </a:p>
        </p:txBody>
      </p:sp>
      <p:sp>
        <p:nvSpPr>
          <p:cNvPr id="7" name="Text 5"/>
          <p:cNvSpPr/>
          <p:nvPr/>
        </p:nvSpPr>
        <p:spPr>
          <a:xfrm>
            <a:off x="658368" y="1591056"/>
            <a:ext cx="2386584" cy="570586"/>
          </a:xfrm>
          <a:prstGeom prst="rect">
            <a:avLst/>
          </a:prstGeom>
          <a:noFill/>
          <a:ln/>
        </p:spPr>
        <p:txBody>
          <a:bodyPr wrap="square" lIns="0" tIns="0" rIns="0" bIns="0" rtlCol="0" anchor="ctr"/>
          <a:lstStyle/>
          <a:p>
            <a:pPr marL="0" indent="0" algn="ctr">
              <a:buNone/>
            </a:pPr>
            <a:r>
              <a:rPr lang="en-US" sz="2600" b="1" dirty="0">
                <a:solidFill>
                  <a:srgbClr val="6D2E46"/>
                </a:solidFill>
                <a:latin typeface="Cambria" pitchFamily="34" charset="0"/>
                <a:ea typeface="Cambria" pitchFamily="34" charset="-122"/>
                <a:cs typeface="Cambria" pitchFamily="34" charset="-120"/>
              </a:rPr>
              <a:t>750</a:t>
            </a:r>
            <a:endParaRPr lang="en-US" sz="2600" dirty="0"/>
          </a:p>
        </p:txBody>
      </p:sp>
      <p:sp>
        <p:nvSpPr>
          <p:cNvPr id="8" name="Text 6"/>
          <p:cNvSpPr/>
          <p:nvPr/>
        </p:nvSpPr>
        <p:spPr>
          <a:xfrm>
            <a:off x="658368" y="2121408"/>
            <a:ext cx="2386584" cy="373075"/>
          </a:xfrm>
          <a:prstGeom prst="rect">
            <a:avLst/>
          </a:prstGeom>
          <a:noFill/>
          <a:ln/>
        </p:spPr>
        <p:txBody>
          <a:bodyPr wrap="square" lIns="0" tIns="0" rIns="0" bIns="0" rtlCol="0" anchor="t"/>
          <a:lstStyle/>
          <a:p>
            <a:pPr marL="0" indent="0" algn="ctr">
              <a:buNone/>
            </a:pPr>
            <a:r>
              <a:rPr lang="en-US" sz="1100" dirty="0">
                <a:solidFill>
                  <a:srgbClr val="2B2B2B"/>
                </a:solidFill>
                <a:latin typeface="Calibri" pitchFamily="34" charset="0"/>
                <a:ea typeface="Calibri" pitchFamily="34" charset="-122"/>
                <a:cs typeface="Calibri" pitchFamily="34" charset="-120"/>
              </a:rPr>
              <a:t>records in the Q1 fact table</a:t>
            </a:r>
            <a:endParaRPr lang="en-US" sz="1100" dirty="0"/>
          </a:p>
        </p:txBody>
      </p:sp>
      <p:sp>
        <p:nvSpPr>
          <p:cNvPr id="9" name="Shape 7"/>
          <p:cNvSpPr/>
          <p:nvPr/>
        </p:nvSpPr>
        <p:spPr>
          <a:xfrm>
            <a:off x="3337560" y="1463040"/>
            <a:ext cx="2606040" cy="1097280"/>
          </a:xfrm>
          <a:prstGeom prst="roundRect">
            <a:avLst>
              <a:gd name="adj" fmla="val 6667"/>
            </a:avLst>
          </a:prstGeom>
          <a:solidFill>
            <a:srgbClr val="ECE2D0"/>
          </a:solidFill>
          <a:ln w="12700">
            <a:solidFill>
              <a:srgbClr val="ECE2D0"/>
            </a:solidFill>
            <a:prstDash val="solid"/>
          </a:ln>
        </p:spPr>
        <p:txBody>
          <a:bodyPr/>
          <a:lstStyle/>
          <a:p>
            <a:endParaRPr lang="en-GB"/>
          </a:p>
        </p:txBody>
      </p:sp>
      <p:sp>
        <p:nvSpPr>
          <p:cNvPr id="10" name="Text 8"/>
          <p:cNvSpPr/>
          <p:nvPr/>
        </p:nvSpPr>
        <p:spPr>
          <a:xfrm>
            <a:off x="3447288" y="1591056"/>
            <a:ext cx="2386584" cy="570586"/>
          </a:xfrm>
          <a:prstGeom prst="rect">
            <a:avLst/>
          </a:prstGeom>
          <a:noFill/>
          <a:ln/>
        </p:spPr>
        <p:txBody>
          <a:bodyPr wrap="square" lIns="0" tIns="0" rIns="0" bIns="0" rtlCol="0" anchor="ctr"/>
          <a:lstStyle/>
          <a:p>
            <a:pPr marL="0" indent="0" algn="ctr">
              <a:buNone/>
            </a:pPr>
            <a:r>
              <a:rPr lang="en-US" sz="2600" b="1" dirty="0">
                <a:solidFill>
                  <a:srgbClr val="6D2E46"/>
                </a:solidFill>
                <a:latin typeface="Cambria" pitchFamily="34" charset="0"/>
                <a:ea typeface="Cambria" pitchFamily="34" charset="-122"/>
                <a:cs typeface="Cambria" pitchFamily="34" charset="-120"/>
              </a:rPr>
              <a:t>$73,792.73</a:t>
            </a:r>
            <a:endParaRPr lang="en-US" sz="2600" dirty="0"/>
          </a:p>
        </p:txBody>
      </p:sp>
      <p:sp>
        <p:nvSpPr>
          <p:cNvPr id="11" name="Text 9"/>
          <p:cNvSpPr/>
          <p:nvPr/>
        </p:nvSpPr>
        <p:spPr>
          <a:xfrm>
            <a:off x="3447288" y="2121408"/>
            <a:ext cx="2386584" cy="373075"/>
          </a:xfrm>
          <a:prstGeom prst="rect">
            <a:avLst/>
          </a:prstGeom>
          <a:noFill/>
          <a:ln/>
        </p:spPr>
        <p:txBody>
          <a:bodyPr wrap="square" lIns="0" tIns="0" rIns="0" bIns="0" rtlCol="0" anchor="t"/>
          <a:lstStyle/>
          <a:p>
            <a:pPr marL="0" indent="0" algn="ctr">
              <a:buNone/>
            </a:pPr>
            <a:r>
              <a:rPr lang="en-US" sz="1100" dirty="0">
                <a:solidFill>
                  <a:srgbClr val="2B2B2B"/>
                </a:solidFill>
                <a:latin typeface="Calibri" pitchFamily="34" charset="0"/>
                <a:ea typeface="Calibri" pitchFamily="34" charset="-122"/>
                <a:cs typeface="Calibri" pitchFamily="34" charset="-120"/>
              </a:rPr>
              <a:t>total Q1 2024 sales</a:t>
            </a:r>
            <a:endParaRPr lang="en-US" sz="1100" dirty="0"/>
          </a:p>
        </p:txBody>
      </p:sp>
      <p:sp>
        <p:nvSpPr>
          <p:cNvPr id="12" name="Shape 10"/>
          <p:cNvSpPr/>
          <p:nvPr/>
        </p:nvSpPr>
        <p:spPr>
          <a:xfrm>
            <a:off x="6126480" y="1463040"/>
            <a:ext cx="2606040" cy="1097280"/>
          </a:xfrm>
          <a:prstGeom prst="roundRect">
            <a:avLst>
              <a:gd name="adj" fmla="val 6667"/>
            </a:avLst>
          </a:prstGeom>
          <a:solidFill>
            <a:srgbClr val="ECE2D0"/>
          </a:solidFill>
          <a:ln w="12700">
            <a:solidFill>
              <a:srgbClr val="ECE2D0"/>
            </a:solidFill>
            <a:prstDash val="solid"/>
          </a:ln>
        </p:spPr>
        <p:txBody>
          <a:bodyPr/>
          <a:lstStyle/>
          <a:p>
            <a:endParaRPr lang="en-GB"/>
          </a:p>
        </p:txBody>
      </p:sp>
      <p:sp>
        <p:nvSpPr>
          <p:cNvPr id="13" name="Text 11"/>
          <p:cNvSpPr/>
          <p:nvPr/>
        </p:nvSpPr>
        <p:spPr>
          <a:xfrm>
            <a:off x="6236208" y="1591056"/>
            <a:ext cx="2386584" cy="570586"/>
          </a:xfrm>
          <a:prstGeom prst="rect">
            <a:avLst/>
          </a:prstGeom>
          <a:noFill/>
          <a:ln/>
        </p:spPr>
        <p:txBody>
          <a:bodyPr wrap="square" lIns="0" tIns="0" rIns="0" bIns="0" rtlCol="0" anchor="ctr"/>
          <a:lstStyle/>
          <a:p>
            <a:pPr marL="0" indent="0" algn="ctr">
              <a:buNone/>
            </a:pPr>
            <a:r>
              <a:rPr lang="en-US" sz="2600" b="1" dirty="0">
                <a:solidFill>
                  <a:srgbClr val="6D2E46"/>
                </a:solidFill>
                <a:latin typeface="Cambria" pitchFamily="34" charset="0"/>
                <a:ea typeface="Cambria" pitchFamily="34" charset="-122"/>
                <a:cs typeface="Cambria" pitchFamily="34" charset="-120"/>
              </a:rPr>
              <a:t>749</a:t>
            </a:r>
            <a:endParaRPr lang="en-US" sz="2600" dirty="0"/>
          </a:p>
        </p:txBody>
      </p:sp>
      <p:sp>
        <p:nvSpPr>
          <p:cNvPr id="14" name="Text 12"/>
          <p:cNvSpPr/>
          <p:nvPr/>
        </p:nvSpPr>
        <p:spPr>
          <a:xfrm>
            <a:off x="6236208" y="2121408"/>
            <a:ext cx="2386584" cy="373075"/>
          </a:xfrm>
          <a:prstGeom prst="rect">
            <a:avLst/>
          </a:prstGeom>
          <a:noFill/>
          <a:ln/>
        </p:spPr>
        <p:txBody>
          <a:bodyPr wrap="square" lIns="0" tIns="0" rIns="0" bIns="0" rtlCol="0" anchor="t"/>
          <a:lstStyle/>
          <a:p>
            <a:pPr marL="0" indent="0" algn="ctr">
              <a:buNone/>
            </a:pPr>
            <a:r>
              <a:rPr lang="en-US" sz="1100" dirty="0">
                <a:solidFill>
                  <a:srgbClr val="2B2B2B"/>
                </a:solidFill>
                <a:latin typeface="Calibri" pitchFamily="34" charset="0"/>
                <a:ea typeface="Calibri" pitchFamily="34" charset="-122"/>
                <a:cs typeface="Calibri" pitchFamily="34" charset="-120"/>
              </a:rPr>
              <a:t>distinct order IDs</a:t>
            </a:r>
            <a:endParaRPr lang="en-US" sz="1100" dirty="0"/>
          </a:p>
        </p:txBody>
      </p:sp>
      <p:sp>
        <p:nvSpPr>
          <p:cNvPr id="15" name="Shape 13"/>
          <p:cNvSpPr/>
          <p:nvPr/>
        </p:nvSpPr>
        <p:spPr>
          <a:xfrm>
            <a:off x="8915400" y="1463040"/>
            <a:ext cx="2606040" cy="1097280"/>
          </a:xfrm>
          <a:prstGeom prst="roundRect">
            <a:avLst>
              <a:gd name="adj" fmla="val 6667"/>
            </a:avLst>
          </a:prstGeom>
          <a:solidFill>
            <a:srgbClr val="ECE2D0"/>
          </a:solidFill>
          <a:ln w="12700">
            <a:solidFill>
              <a:srgbClr val="ECE2D0"/>
            </a:solidFill>
            <a:prstDash val="solid"/>
          </a:ln>
        </p:spPr>
        <p:txBody>
          <a:bodyPr/>
          <a:lstStyle/>
          <a:p>
            <a:endParaRPr lang="en-GB"/>
          </a:p>
        </p:txBody>
      </p:sp>
      <p:sp>
        <p:nvSpPr>
          <p:cNvPr id="16" name="Text 14"/>
          <p:cNvSpPr/>
          <p:nvPr/>
        </p:nvSpPr>
        <p:spPr>
          <a:xfrm>
            <a:off x="9025128" y="1591056"/>
            <a:ext cx="2386584" cy="570586"/>
          </a:xfrm>
          <a:prstGeom prst="rect">
            <a:avLst/>
          </a:prstGeom>
          <a:noFill/>
          <a:ln/>
        </p:spPr>
        <p:txBody>
          <a:bodyPr wrap="square" lIns="0" tIns="0" rIns="0" bIns="0" rtlCol="0" anchor="ctr"/>
          <a:lstStyle/>
          <a:p>
            <a:pPr marL="0" indent="0" algn="ctr">
              <a:buNone/>
            </a:pPr>
            <a:r>
              <a:rPr lang="en-US" sz="2600" b="1" dirty="0">
                <a:solidFill>
                  <a:srgbClr val="6D2E46"/>
                </a:solidFill>
                <a:latin typeface="Cambria" pitchFamily="34" charset="0"/>
                <a:ea typeface="Cambria" pitchFamily="34" charset="-122"/>
                <a:cs typeface="Cambria" pitchFamily="34" charset="-120"/>
              </a:rPr>
              <a:t>60</a:t>
            </a:r>
            <a:endParaRPr lang="en-US" sz="2600" dirty="0"/>
          </a:p>
        </p:txBody>
      </p:sp>
      <p:sp>
        <p:nvSpPr>
          <p:cNvPr id="17" name="Text 15"/>
          <p:cNvSpPr/>
          <p:nvPr/>
        </p:nvSpPr>
        <p:spPr>
          <a:xfrm>
            <a:off x="9025128" y="2121408"/>
            <a:ext cx="2386584" cy="373075"/>
          </a:xfrm>
          <a:prstGeom prst="rect">
            <a:avLst/>
          </a:prstGeom>
          <a:noFill/>
          <a:ln/>
        </p:spPr>
        <p:txBody>
          <a:bodyPr wrap="square" lIns="0" tIns="0" rIns="0" bIns="0" rtlCol="0" anchor="t"/>
          <a:lstStyle/>
          <a:p>
            <a:pPr marL="0" indent="0" algn="ctr">
              <a:buNone/>
            </a:pPr>
            <a:r>
              <a:rPr lang="en-US" sz="1100" dirty="0">
                <a:solidFill>
                  <a:srgbClr val="2B2B2B"/>
                </a:solidFill>
                <a:latin typeface="Calibri" pitchFamily="34" charset="0"/>
                <a:ea typeface="Calibri" pitchFamily="34" charset="-122"/>
                <a:cs typeface="Calibri" pitchFamily="34" charset="-120"/>
              </a:rPr>
              <a:t>publisher partners</a:t>
            </a:r>
            <a:endParaRPr lang="en-US" sz="1100" dirty="0"/>
          </a:p>
        </p:txBody>
      </p:sp>
      <p:sp>
        <p:nvSpPr>
          <p:cNvPr id="18" name="Text 16"/>
          <p:cNvSpPr/>
          <p:nvPr/>
        </p:nvSpPr>
        <p:spPr>
          <a:xfrm>
            <a:off x="548640" y="2834640"/>
            <a:ext cx="54864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Sources supplied</a:t>
            </a:r>
            <a:endParaRPr lang="en-US" sz="1600" dirty="0"/>
          </a:p>
        </p:txBody>
      </p:sp>
      <p:sp>
        <p:nvSpPr>
          <p:cNvPr id="19" name="Text 17"/>
          <p:cNvSpPr/>
          <p:nvPr/>
        </p:nvSpPr>
        <p:spPr>
          <a:xfrm>
            <a:off x="548640" y="3182112"/>
            <a:ext cx="548640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Bookstore_Monthly_Sales_2024_01/02/03.csv: 250 rows each, unioned into one Q1 fact table</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Publisher_Info.csv: 60 rows, one per publisher (lookup / dimension table)</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Bookstore_Sales.csv: 700 rows spanning 2020 to 2024, related on PublisherID</a:t>
            </a:r>
            <a:endParaRPr lang="en-US" sz="1350" dirty="0"/>
          </a:p>
        </p:txBody>
      </p:sp>
      <p:sp>
        <p:nvSpPr>
          <p:cNvPr id="20" name="Text 18"/>
          <p:cNvSpPr/>
          <p:nvPr/>
        </p:nvSpPr>
        <p:spPr>
          <a:xfrm>
            <a:off x="6400800" y="2834640"/>
            <a:ext cx="521208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Relevance to the objectives</a:t>
            </a:r>
            <a:endParaRPr lang="en-US" sz="1600" dirty="0"/>
          </a:p>
        </p:txBody>
      </p:sp>
      <p:sp>
        <p:nvSpPr>
          <p:cNvPr id="21" name="Text 19"/>
          <p:cNvSpPr/>
          <p:nvPr/>
        </p:nvSpPr>
        <p:spPr>
          <a:xfrm>
            <a:off x="6400800" y="3182112"/>
            <a:ext cx="521208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Covers the exact review window: 1 Jan – 28 Mar 2024</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Carries genre, region, state and city, the four dimensions management asked about</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Publisher lookup supplies readable partner names for the ranking view</a:t>
            </a:r>
            <a:endParaRPr lang="en-US" sz="1350" dirty="0"/>
          </a:p>
        </p:txBody>
      </p:sp>
      <p:sp>
        <p:nvSpPr>
          <p:cNvPr id="22" name="Shape 20"/>
          <p:cNvSpPr/>
          <p:nvPr/>
        </p:nvSpPr>
        <p:spPr>
          <a:xfrm>
            <a:off x="548640" y="5138928"/>
            <a:ext cx="11064240" cy="777240"/>
          </a:xfrm>
          <a:prstGeom prst="roundRect">
            <a:avLst>
              <a:gd name="adj" fmla="val 7059"/>
            </a:avLst>
          </a:prstGeom>
          <a:solidFill>
            <a:srgbClr val="ECE2D0"/>
          </a:solidFill>
          <a:ln w="12700">
            <a:solidFill>
              <a:srgbClr val="ECE2D0"/>
            </a:solidFill>
            <a:prstDash val="solid"/>
          </a:ln>
        </p:spPr>
        <p:txBody>
          <a:bodyPr/>
          <a:lstStyle/>
          <a:p>
            <a:endParaRPr lang="en-GB"/>
          </a:p>
        </p:txBody>
      </p:sp>
      <p:sp>
        <p:nvSpPr>
          <p:cNvPr id="23" name="Text 21"/>
          <p:cNvSpPr/>
          <p:nvPr/>
        </p:nvSpPr>
        <p:spPr>
          <a:xfrm>
            <a:off x="749808" y="5138928"/>
            <a:ext cx="10661904" cy="777240"/>
          </a:xfrm>
          <a:prstGeom prst="rect">
            <a:avLst/>
          </a:prstGeom>
          <a:noFill/>
          <a:ln/>
        </p:spPr>
        <p:txBody>
          <a:bodyPr wrap="square" lIns="0" tIns="0" rIns="0" bIns="0" rtlCol="0" anchor="ctr"/>
          <a:lstStyle/>
          <a:p>
            <a:pPr marL="0" indent="0">
              <a:buNone/>
            </a:pPr>
            <a:r>
              <a:rPr lang="en-US" sz="1250" b="1" dirty="0">
                <a:solidFill>
                  <a:srgbClr val="6D2E46"/>
                </a:solidFill>
                <a:latin typeface="Calibri" pitchFamily="34" charset="0"/>
                <a:ea typeface="Calibri" pitchFamily="34" charset="-122"/>
                <a:cs typeface="Calibri" pitchFamily="34" charset="-120"/>
              </a:rPr>
              <a:t>Coverage note:  </a:t>
            </a:r>
            <a:r>
              <a:rPr lang="en-US" sz="1250" dirty="0">
                <a:solidFill>
                  <a:srgbClr val="2B2B2B"/>
                </a:solidFill>
                <a:latin typeface="Calibri" pitchFamily="34" charset="0"/>
                <a:ea typeface="Calibri" pitchFamily="34" charset="-122"/>
                <a:cs typeface="Calibri" pitchFamily="34" charset="-120"/>
              </a:rPr>
              <a:t>10 states and 48 cities across Central, East, South and West. Every order is United States only, so no international comparison is possible from this data.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Dataset Structure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Key variables in the unioned Q1 fact table and the publisher lookup</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309387318"/>
              </p:ext>
            </p:extLst>
          </p:nvPr>
        </p:nvGraphicFramePr>
        <p:xfrm>
          <a:off x="548640" y="1481328"/>
          <a:ext cx="11064240" cy="4023360"/>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27432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Field</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Role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Range / distinct values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OrderID</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Categorical</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Identifier</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749 distinct across 750 rows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OrderDate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Date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 Jan – 28 Mar 2024</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PublisherID</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Categorical</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Join key</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60 distinct</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Genre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Categorical</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8 values (Children → Self-Help)</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Quantity</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Numerical (discrete)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 – 7   (mean 3.96)</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UnitPrice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Numerical (continuous)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$5.06 – $44.97   (mean $25.15)</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Sales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Numerical (continuous)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$5.17 – $311.85   (median $82.84)</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Region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Categorical</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4 values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State / City</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Geographic</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10 states, 48 cities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PublisherName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Categorical</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 (lookup)</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60 distinct</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HQ_State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Geographic</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Dimension (lookup)</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From Publisher_Info.csv</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Text 4"/>
          <p:cNvSpPr/>
          <p:nvPr/>
        </p:nvSpPr>
        <p:spPr>
          <a:xfrm>
            <a:off x="548640" y="6108192"/>
            <a:ext cx="11064240" cy="310896"/>
          </a:xfrm>
          <a:prstGeom prst="rect">
            <a:avLst/>
          </a:prstGeom>
          <a:noFill/>
          <a:ln/>
        </p:spPr>
        <p:txBody>
          <a:bodyPr wrap="square" lIns="0" tIns="0" rIns="0" bIns="0" rtlCol="0" anchor="ctr"/>
          <a:lstStyle/>
          <a:p>
            <a:pPr marL="0" indent="0">
              <a:buNone/>
            </a:pPr>
            <a:r>
              <a:rPr lang="en-US" sz="1150" i="1" dirty="0">
                <a:solidFill>
                  <a:srgbClr val="6E6E6E"/>
                </a:solidFill>
                <a:latin typeface="Calibri" pitchFamily="34" charset="0"/>
                <a:ea typeface="Calibri" pitchFamily="34" charset="-122"/>
                <a:cs typeface="Calibri" pitchFamily="34" charset="-120"/>
              </a:rPr>
              <a:t>Sales is a derived field: Quantity × UnitPrice. This was verified on all 750 rows, with no mismatches.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Identified Problems &amp; Challenges</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What was checked, and what the checks found</a:t>
            </a:r>
            <a:endParaRPr lang="en-US" sz="1300" dirty="0"/>
          </a:p>
        </p:txBody>
      </p:sp>
      <p:sp>
        <p:nvSpPr>
          <p:cNvPr id="6" name="Shape 4"/>
          <p:cNvSpPr/>
          <p:nvPr/>
        </p:nvSpPr>
        <p:spPr>
          <a:xfrm>
            <a:off x="548640" y="1481328"/>
            <a:ext cx="2651760" cy="2331720"/>
          </a:xfrm>
          <a:prstGeom prst="roundRect">
            <a:avLst>
              <a:gd name="adj" fmla="val 3137"/>
            </a:avLst>
          </a:prstGeom>
          <a:solidFill>
            <a:srgbClr val="ECE2D0"/>
          </a:solidFill>
          <a:ln w="12700">
            <a:solidFill>
              <a:srgbClr val="ECE2D0"/>
            </a:solidFill>
            <a:prstDash val="solid"/>
          </a:ln>
        </p:spPr>
        <p:txBody>
          <a:bodyPr/>
          <a:lstStyle/>
          <a:p>
            <a:endParaRPr lang="en-GB"/>
          </a:p>
        </p:txBody>
      </p:sp>
      <p:sp>
        <p:nvSpPr>
          <p:cNvPr id="7" name="Text 5"/>
          <p:cNvSpPr/>
          <p:nvPr/>
        </p:nvSpPr>
        <p:spPr>
          <a:xfrm>
            <a:off x="713232" y="1627632"/>
            <a:ext cx="2322576" cy="310896"/>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Missing values</a:t>
            </a:r>
            <a:endParaRPr lang="en-US" sz="1300" dirty="0"/>
          </a:p>
        </p:txBody>
      </p:sp>
      <p:sp>
        <p:nvSpPr>
          <p:cNvPr id="8" name="Text 6"/>
          <p:cNvSpPr/>
          <p:nvPr/>
        </p:nvSpPr>
        <p:spPr>
          <a:xfrm>
            <a:off x="713232" y="1956816"/>
            <a:ext cx="2322576" cy="502920"/>
          </a:xfrm>
          <a:prstGeom prst="rect">
            <a:avLst/>
          </a:prstGeom>
          <a:noFill/>
          <a:ln/>
        </p:spPr>
        <p:txBody>
          <a:bodyPr wrap="square" lIns="0" tIns="0" rIns="0" bIns="0" rtlCol="0" anchor="ctr"/>
          <a:lstStyle/>
          <a:p>
            <a:pPr marL="0" indent="0">
              <a:buNone/>
            </a:pPr>
            <a:r>
              <a:rPr lang="en-US" sz="2400" b="1" dirty="0">
                <a:solidFill>
                  <a:srgbClr val="1E7A4D"/>
                </a:solidFill>
                <a:latin typeface="Cambria" pitchFamily="34" charset="0"/>
                <a:ea typeface="Cambria" pitchFamily="34" charset="-122"/>
                <a:cs typeface="Cambria" pitchFamily="34" charset="-120"/>
              </a:rPr>
              <a:t>None</a:t>
            </a:r>
            <a:endParaRPr lang="en-US" sz="2400" dirty="0"/>
          </a:p>
        </p:txBody>
      </p:sp>
      <p:sp>
        <p:nvSpPr>
          <p:cNvPr id="9" name="Text 7"/>
          <p:cNvSpPr/>
          <p:nvPr/>
        </p:nvSpPr>
        <p:spPr>
          <a:xfrm>
            <a:off x="713232" y="2523744"/>
            <a:ext cx="2322576" cy="1170432"/>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All 10 fields across 750 rows are fully populated. Publisher_Info is also complete.</a:t>
            </a:r>
            <a:endParaRPr lang="en-US" sz="1600" dirty="0"/>
          </a:p>
        </p:txBody>
      </p:sp>
      <p:sp>
        <p:nvSpPr>
          <p:cNvPr id="10" name="Shape 8"/>
          <p:cNvSpPr/>
          <p:nvPr/>
        </p:nvSpPr>
        <p:spPr>
          <a:xfrm>
            <a:off x="3392424" y="1481328"/>
            <a:ext cx="2651760" cy="2331720"/>
          </a:xfrm>
          <a:prstGeom prst="roundRect">
            <a:avLst>
              <a:gd name="adj" fmla="val 3137"/>
            </a:avLst>
          </a:prstGeom>
          <a:solidFill>
            <a:srgbClr val="ECE2D0"/>
          </a:solidFill>
          <a:ln w="12700">
            <a:solidFill>
              <a:srgbClr val="ECE2D0"/>
            </a:solidFill>
            <a:prstDash val="solid"/>
          </a:ln>
        </p:spPr>
        <p:txBody>
          <a:bodyPr/>
          <a:lstStyle/>
          <a:p>
            <a:endParaRPr lang="en-GB"/>
          </a:p>
        </p:txBody>
      </p:sp>
      <p:sp>
        <p:nvSpPr>
          <p:cNvPr id="11" name="Text 9"/>
          <p:cNvSpPr/>
          <p:nvPr/>
        </p:nvSpPr>
        <p:spPr>
          <a:xfrm>
            <a:off x="3557016" y="1627632"/>
            <a:ext cx="2322576" cy="310896"/>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Duplicate rows</a:t>
            </a:r>
            <a:endParaRPr lang="en-US" sz="1300" dirty="0"/>
          </a:p>
        </p:txBody>
      </p:sp>
      <p:sp>
        <p:nvSpPr>
          <p:cNvPr id="12" name="Text 10"/>
          <p:cNvSpPr/>
          <p:nvPr/>
        </p:nvSpPr>
        <p:spPr>
          <a:xfrm>
            <a:off x="3557016" y="1956816"/>
            <a:ext cx="2322576" cy="502920"/>
          </a:xfrm>
          <a:prstGeom prst="rect">
            <a:avLst/>
          </a:prstGeom>
          <a:noFill/>
          <a:ln/>
        </p:spPr>
        <p:txBody>
          <a:bodyPr wrap="square" lIns="0" tIns="0" rIns="0" bIns="0" rtlCol="0" anchor="ctr"/>
          <a:lstStyle/>
          <a:p>
            <a:pPr marL="0" indent="0">
              <a:buNone/>
            </a:pPr>
            <a:r>
              <a:rPr lang="en-US" sz="2400" b="1" dirty="0">
                <a:solidFill>
                  <a:srgbClr val="1E7A4D"/>
                </a:solidFill>
                <a:latin typeface="Cambria" pitchFamily="34" charset="0"/>
                <a:ea typeface="Cambria" pitchFamily="34" charset="-122"/>
                <a:cs typeface="Cambria" pitchFamily="34" charset="-120"/>
              </a:rPr>
              <a:t>None</a:t>
            </a:r>
            <a:endParaRPr lang="en-US" sz="2400" dirty="0"/>
          </a:p>
        </p:txBody>
      </p:sp>
      <p:sp>
        <p:nvSpPr>
          <p:cNvPr id="13" name="Text 11"/>
          <p:cNvSpPr/>
          <p:nvPr/>
        </p:nvSpPr>
        <p:spPr>
          <a:xfrm>
            <a:off x="3557016" y="2523744"/>
            <a:ext cx="2322576" cy="1170432"/>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No duplicate order records were identified in the unioned table.</a:t>
            </a:r>
            <a:endParaRPr lang="en-US" sz="1600" dirty="0"/>
          </a:p>
        </p:txBody>
      </p:sp>
      <p:sp>
        <p:nvSpPr>
          <p:cNvPr id="14" name="Shape 12"/>
          <p:cNvSpPr/>
          <p:nvPr/>
        </p:nvSpPr>
        <p:spPr>
          <a:xfrm>
            <a:off x="6236208" y="1481328"/>
            <a:ext cx="2651760" cy="2331720"/>
          </a:xfrm>
          <a:prstGeom prst="roundRect">
            <a:avLst>
              <a:gd name="adj" fmla="val 3137"/>
            </a:avLst>
          </a:prstGeom>
          <a:solidFill>
            <a:srgbClr val="ECE2D0"/>
          </a:solidFill>
          <a:ln w="12700">
            <a:solidFill>
              <a:srgbClr val="ECE2D0"/>
            </a:solidFill>
            <a:prstDash val="solid"/>
          </a:ln>
        </p:spPr>
        <p:txBody>
          <a:bodyPr/>
          <a:lstStyle/>
          <a:p>
            <a:endParaRPr lang="en-GB"/>
          </a:p>
        </p:txBody>
      </p:sp>
      <p:sp>
        <p:nvSpPr>
          <p:cNvPr id="15" name="Text 13"/>
          <p:cNvSpPr/>
          <p:nvPr/>
        </p:nvSpPr>
        <p:spPr>
          <a:xfrm>
            <a:off x="6400800" y="1627632"/>
            <a:ext cx="2322576" cy="310896"/>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Duplicate OrderID</a:t>
            </a:r>
            <a:endParaRPr lang="en-US" sz="1300" dirty="0"/>
          </a:p>
        </p:txBody>
      </p:sp>
      <p:sp>
        <p:nvSpPr>
          <p:cNvPr id="16" name="Text 14"/>
          <p:cNvSpPr/>
          <p:nvPr/>
        </p:nvSpPr>
        <p:spPr>
          <a:xfrm>
            <a:off x="6400800" y="1956816"/>
            <a:ext cx="2322576" cy="502920"/>
          </a:xfrm>
          <a:prstGeom prst="rect">
            <a:avLst/>
          </a:prstGeom>
          <a:noFill/>
          <a:ln/>
        </p:spPr>
        <p:txBody>
          <a:bodyPr wrap="square" lIns="0" tIns="0" rIns="0" bIns="0" rtlCol="0" anchor="ctr"/>
          <a:lstStyle/>
          <a:p>
            <a:pPr marL="0" indent="0">
              <a:buNone/>
            </a:pPr>
            <a:r>
              <a:rPr lang="en-US" sz="2400" b="1" dirty="0">
                <a:solidFill>
                  <a:srgbClr val="B5651D"/>
                </a:solidFill>
                <a:latin typeface="Cambria" pitchFamily="34" charset="0"/>
                <a:ea typeface="Cambria" pitchFamily="34" charset="-122"/>
                <a:cs typeface="Cambria" pitchFamily="34" charset="-120"/>
              </a:rPr>
              <a:t>1 found</a:t>
            </a:r>
            <a:endParaRPr lang="en-US" sz="2400" dirty="0"/>
          </a:p>
        </p:txBody>
      </p:sp>
      <p:sp>
        <p:nvSpPr>
          <p:cNvPr id="17" name="Text 15"/>
          <p:cNvSpPr/>
          <p:nvPr/>
        </p:nvSpPr>
        <p:spPr>
          <a:xfrm>
            <a:off x="6400800" y="2523744"/>
            <a:ext cx="2322576" cy="1170432"/>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BM-03-493700 appears twice with different dates, publishers, genres and values, an ID collision, not a duplicated sale.</a:t>
            </a:r>
            <a:endParaRPr lang="en-US" sz="1600" dirty="0"/>
          </a:p>
        </p:txBody>
      </p:sp>
      <p:sp>
        <p:nvSpPr>
          <p:cNvPr id="18" name="Shape 16"/>
          <p:cNvSpPr/>
          <p:nvPr/>
        </p:nvSpPr>
        <p:spPr>
          <a:xfrm>
            <a:off x="9079992" y="1481328"/>
            <a:ext cx="2651760" cy="2331720"/>
          </a:xfrm>
          <a:prstGeom prst="roundRect">
            <a:avLst>
              <a:gd name="adj" fmla="val 3137"/>
            </a:avLst>
          </a:prstGeom>
          <a:solidFill>
            <a:srgbClr val="ECE2D0"/>
          </a:solidFill>
          <a:ln w="12700">
            <a:solidFill>
              <a:srgbClr val="ECE2D0"/>
            </a:solidFill>
            <a:prstDash val="solid"/>
          </a:ln>
        </p:spPr>
        <p:txBody>
          <a:bodyPr/>
          <a:lstStyle/>
          <a:p>
            <a:endParaRPr lang="en-GB"/>
          </a:p>
        </p:txBody>
      </p:sp>
      <p:sp>
        <p:nvSpPr>
          <p:cNvPr id="19" name="Text 17"/>
          <p:cNvSpPr/>
          <p:nvPr/>
        </p:nvSpPr>
        <p:spPr>
          <a:xfrm>
            <a:off x="9244584" y="1627632"/>
            <a:ext cx="2322576" cy="310896"/>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Outliers</a:t>
            </a:r>
            <a:endParaRPr lang="en-US" sz="1300" dirty="0"/>
          </a:p>
        </p:txBody>
      </p:sp>
      <p:sp>
        <p:nvSpPr>
          <p:cNvPr id="20" name="Text 18"/>
          <p:cNvSpPr/>
          <p:nvPr/>
        </p:nvSpPr>
        <p:spPr>
          <a:xfrm>
            <a:off x="9244584" y="1956816"/>
            <a:ext cx="2322576" cy="502920"/>
          </a:xfrm>
          <a:prstGeom prst="rect">
            <a:avLst/>
          </a:prstGeom>
          <a:noFill/>
          <a:ln/>
        </p:spPr>
        <p:txBody>
          <a:bodyPr wrap="square" lIns="0" tIns="0" rIns="0" bIns="0" rtlCol="0" anchor="ctr"/>
          <a:lstStyle/>
          <a:p>
            <a:pPr marL="0" indent="0">
              <a:buNone/>
            </a:pPr>
            <a:r>
              <a:rPr lang="en-US" sz="2400" b="1" dirty="0">
                <a:solidFill>
                  <a:srgbClr val="B5651D"/>
                </a:solidFill>
                <a:latin typeface="Cambria" pitchFamily="34" charset="0"/>
                <a:ea typeface="Cambria" pitchFamily="34" charset="-122"/>
                <a:cs typeface="Cambria" pitchFamily="34" charset="-120"/>
              </a:rPr>
              <a:t>4 flagged</a:t>
            </a:r>
            <a:endParaRPr lang="en-US" sz="2400" dirty="0"/>
          </a:p>
        </p:txBody>
      </p:sp>
      <p:sp>
        <p:nvSpPr>
          <p:cNvPr id="21" name="Text 19"/>
          <p:cNvSpPr/>
          <p:nvPr/>
        </p:nvSpPr>
        <p:spPr>
          <a:xfrm>
            <a:off x="9244584" y="2523744"/>
            <a:ext cx="2322576" cy="1170432"/>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All are legitimate: 7 units at a high unit price. Retained, not removed.</a:t>
            </a:r>
            <a:endParaRPr lang="en-US" sz="1600" dirty="0"/>
          </a:p>
        </p:txBody>
      </p:sp>
      <p:sp>
        <p:nvSpPr>
          <p:cNvPr id="22" name="Text 20"/>
          <p:cNvSpPr/>
          <p:nvPr/>
        </p:nvSpPr>
        <p:spPr>
          <a:xfrm>
            <a:off x="548640" y="4041648"/>
            <a:ext cx="11064240" cy="310896"/>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The join that would have broken the analysis</a:t>
            </a:r>
            <a:endParaRPr lang="en-US" sz="1600" dirty="0"/>
          </a:p>
        </p:txBody>
      </p:sp>
      <p:sp>
        <p:nvSpPr>
          <p:cNvPr id="23" name="Text 21"/>
          <p:cNvSpPr/>
          <p:nvPr/>
        </p:nvSpPr>
        <p:spPr>
          <a:xfrm>
            <a:off x="548640" y="4407408"/>
            <a:ext cx="11064240" cy="210312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The brief specifies joining the Q1 union to Bookstore_Sales.csv on PublisherID. That table holds ~12 rows per publisher and spans 2020–2024, a different grain and a different period.</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Executed as a physical inner or left join, the 750-row union expands to 8,704 rows, inflating total sales from $73,792.73 to $875,069.56. That is an 11.86x overstatement.</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Resolved by connecting it as a Tableau relationship on the logical layer rather than a physical join, so each table aggregates at its own level and Q1 totals stay correct.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Data Cleaning Process</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Steps taken, and the justification for each decision</a:t>
            </a:r>
            <a:endParaRPr lang="en-US" sz="1300" dirty="0"/>
          </a:p>
        </p:txBody>
      </p:sp>
      <p:sp>
        <p:nvSpPr>
          <p:cNvPr id="6" name="Shape 4"/>
          <p:cNvSpPr/>
          <p:nvPr/>
        </p:nvSpPr>
        <p:spPr>
          <a:xfrm>
            <a:off x="548640" y="1499616"/>
            <a:ext cx="329184" cy="329184"/>
          </a:xfrm>
          <a:prstGeom prst="ellipse">
            <a:avLst/>
          </a:prstGeom>
          <a:solidFill>
            <a:srgbClr val="A26769"/>
          </a:solidFill>
          <a:ln/>
        </p:spPr>
        <p:txBody>
          <a:bodyPr/>
          <a:lstStyle/>
          <a:p>
            <a:endParaRPr lang="en-GB" sz="2800"/>
          </a:p>
        </p:txBody>
      </p:sp>
      <p:sp>
        <p:nvSpPr>
          <p:cNvPr id="7" name="Text 5"/>
          <p:cNvSpPr/>
          <p:nvPr/>
        </p:nvSpPr>
        <p:spPr>
          <a:xfrm>
            <a:off x="548640" y="1499616"/>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8" name="Text 6"/>
          <p:cNvSpPr/>
          <p:nvPr/>
        </p:nvSpPr>
        <p:spPr>
          <a:xfrm>
            <a:off x="1024128" y="1463040"/>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Union, not append</a:t>
            </a:r>
            <a:endParaRPr lang="en-US" dirty="0"/>
          </a:p>
        </p:txBody>
      </p:sp>
      <p:sp>
        <p:nvSpPr>
          <p:cNvPr id="9" name="Text 7"/>
          <p:cNvSpPr/>
          <p:nvPr/>
        </p:nvSpPr>
        <p:spPr>
          <a:xfrm>
            <a:off x="1024128" y="1792224"/>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The three monthly files share an identical 10-column schema, so a Tableau union produces one clean 750-row Q1 fact table with no field mismatches.</a:t>
            </a:r>
            <a:endParaRPr lang="en-US" sz="1600" dirty="0"/>
          </a:p>
        </p:txBody>
      </p:sp>
      <p:sp>
        <p:nvSpPr>
          <p:cNvPr id="10" name="Shape 8"/>
          <p:cNvSpPr/>
          <p:nvPr/>
        </p:nvSpPr>
        <p:spPr>
          <a:xfrm>
            <a:off x="6172200" y="1499616"/>
            <a:ext cx="329184" cy="329184"/>
          </a:xfrm>
          <a:prstGeom prst="ellipse">
            <a:avLst/>
          </a:prstGeom>
          <a:solidFill>
            <a:srgbClr val="A26769"/>
          </a:solidFill>
          <a:ln/>
        </p:spPr>
        <p:txBody>
          <a:bodyPr/>
          <a:lstStyle/>
          <a:p>
            <a:endParaRPr lang="en-GB" sz="2800"/>
          </a:p>
        </p:txBody>
      </p:sp>
      <p:sp>
        <p:nvSpPr>
          <p:cNvPr id="11" name="Text 9"/>
          <p:cNvSpPr/>
          <p:nvPr/>
        </p:nvSpPr>
        <p:spPr>
          <a:xfrm>
            <a:off x="6172200" y="1499616"/>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6647688" y="1463040"/>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Left join for the lookup</a:t>
            </a:r>
            <a:endParaRPr lang="en-US" dirty="0"/>
          </a:p>
        </p:txBody>
      </p:sp>
      <p:sp>
        <p:nvSpPr>
          <p:cNvPr id="13" name="Text 11"/>
          <p:cNvSpPr/>
          <p:nvPr/>
        </p:nvSpPr>
        <p:spPr>
          <a:xfrm>
            <a:off x="6647688" y="1792224"/>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Publisher_Info.csv holds exactly one row per PublisherID, so it cannot fan out the fact table. A left join preserves every sales row even if a publisher were ever missing from the lookup. An inner join would silently delete those sales.</a:t>
            </a:r>
            <a:endParaRPr lang="en-US" sz="1600" dirty="0"/>
          </a:p>
        </p:txBody>
      </p:sp>
      <p:sp>
        <p:nvSpPr>
          <p:cNvPr id="14" name="Shape 12"/>
          <p:cNvSpPr/>
          <p:nvPr/>
        </p:nvSpPr>
        <p:spPr>
          <a:xfrm>
            <a:off x="548640" y="3072384"/>
            <a:ext cx="329184" cy="329184"/>
          </a:xfrm>
          <a:prstGeom prst="ellipse">
            <a:avLst/>
          </a:prstGeom>
          <a:solidFill>
            <a:srgbClr val="A26769"/>
          </a:solidFill>
          <a:ln/>
        </p:spPr>
        <p:txBody>
          <a:bodyPr/>
          <a:lstStyle/>
          <a:p>
            <a:endParaRPr lang="en-GB" sz="2800"/>
          </a:p>
        </p:txBody>
      </p:sp>
      <p:sp>
        <p:nvSpPr>
          <p:cNvPr id="15" name="Text 13"/>
          <p:cNvSpPr/>
          <p:nvPr/>
        </p:nvSpPr>
        <p:spPr>
          <a:xfrm>
            <a:off x="548640" y="3072384"/>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6" name="Text 14"/>
          <p:cNvSpPr/>
          <p:nvPr/>
        </p:nvSpPr>
        <p:spPr>
          <a:xfrm>
            <a:off x="1024128" y="3035808"/>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Relationship for Bookstore_Sales.csv</a:t>
            </a:r>
            <a:endParaRPr lang="en-US" dirty="0"/>
          </a:p>
        </p:txBody>
      </p:sp>
      <p:sp>
        <p:nvSpPr>
          <p:cNvPr id="17" name="Text 15"/>
          <p:cNvSpPr/>
          <p:nvPr/>
        </p:nvSpPr>
        <p:spPr>
          <a:xfrm>
            <a:off x="1024128" y="3364992"/>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Used the logical layer rather than a physical join to satisfy the data model without corrupting the Q1 aggregates. No field from this table is used in any worksheet.</a:t>
            </a:r>
            <a:endParaRPr lang="en-US" sz="1600" dirty="0"/>
          </a:p>
        </p:txBody>
      </p:sp>
      <p:sp>
        <p:nvSpPr>
          <p:cNvPr id="18" name="Shape 16"/>
          <p:cNvSpPr/>
          <p:nvPr/>
        </p:nvSpPr>
        <p:spPr>
          <a:xfrm>
            <a:off x="6172200" y="3072384"/>
            <a:ext cx="329184" cy="329184"/>
          </a:xfrm>
          <a:prstGeom prst="ellipse">
            <a:avLst/>
          </a:prstGeom>
          <a:solidFill>
            <a:srgbClr val="A26769"/>
          </a:solidFill>
          <a:ln/>
        </p:spPr>
        <p:txBody>
          <a:bodyPr/>
          <a:lstStyle/>
          <a:p>
            <a:endParaRPr lang="en-GB" sz="2800"/>
          </a:p>
        </p:txBody>
      </p:sp>
      <p:sp>
        <p:nvSpPr>
          <p:cNvPr id="19" name="Text 17"/>
          <p:cNvSpPr/>
          <p:nvPr/>
        </p:nvSpPr>
        <p:spPr>
          <a:xfrm>
            <a:off x="6172200" y="3072384"/>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0" name="Text 18"/>
          <p:cNvSpPr/>
          <p:nvPr/>
        </p:nvSpPr>
        <p:spPr>
          <a:xfrm>
            <a:off x="6647688" y="3035808"/>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Duplicate OrderID retained</a:t>
            </a:r>
            <a:endParaRPr lang="en-US" dirty="0"/>
          </a:p>
        </p:txBody>
      </p:sp>
      <p:sp>
        <p:nvSpPr>
          <p:cNvPr id="21" name="Text 19"/>
          <p:cNvSpPr/>
          <p:nvPr/>
        </p:nvSpPr>
        <p:spPr>
          <a:xfrm>
            <a:off x="6647688" y="3364992"/>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The two BM-03-493700 rows describe genuinely different transactions. Deleting either would remove real revenue. Retained, and noted as a caveat on any distinct-count measure.</a:t>
            </a:r>
            <a:endParaRPr lang="en-US" sz="1600" dirty="0"/>
          </a:p>
        </p:txBody>
      </p:sp>
      <p:sp>
        <p:nvSpPr>
          <p:cNvPr id="22" name="Shape 20"/>
          <p:cNvSpPr/>
          <p:nvPr/>
        </p:nvSpPr>
        <p:spPr>
          <a:xfrm>
            <a:off x="548640" y="4645152"/>
            <a:ext cx="329184" cy="329184"/>
          </a:xfrm>
          <a:prstGeom prst="ellipse">
            <a:avLst/>
          </a:prstGeom>
          <a:solidFill>
            <a:srgbClr val="A26769"/>
          </a:solidFill>
          <a:ln/>
        </p:spPr>
        <p:txBody>
          <a:bodyPr/>
          <a:lstStyle/>
          <a:p>
            <a:endParaRPr lang="en-GB" sz="2800"/>
          </a:p>
        </p:txBody>
      </p:sp>
      <p:sp>
        <p:nvSpPr>
          <p:cNvPr id="23" name="Text 21"/>
          <p:cNvSpPr/>
          <p:nvPr/>
        </p:nvSpPr>
        <p:spPr>
          <a:xfrm>
            <a:off x="548640" y="4645152"/>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4" name="Text 22"/>
          <p:cNvSpPr/>
          <p:nvPr/>
        </p:nvSpPr>
        <p:spPr>
          <a:xfrm>
            <a:off x="1024128" y="4608576"/>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Outliers retained</a:t>
            </a:r>
            <a:endParaRPr lang="en-US" dirty="0"/>
          </a:p>
        </p:txBody>
      </p:sp>
      <p:sp>
        <p:nvSpPr>
          <p:cNvPr id="25" name="Text 23"/>
          <p:cNvSpPr/>
          <p:nvPr/>
        </p:nvSpPr>
        <p:spPr>
          <a:xfrm>
            <a:off x="1024128" y="4937760"/>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The four IQR outliers sit within the valid ranges of both Quantity (max 7) and UnitPrice (max $44.97). They are real high-value orders, and removing them would understate the top of the market.</a:t>
            </a:r>
            <a:endParaRPr lang="en-US" sz="1600" dirty="0"/>
          </a:p>
        </p:txBody>
      </p:sp>
      <p:sp>
        <p:nvSpPr>
          <p:cNvPr id="26" name="Shape 24"/>
          <p:cNvSpPr/>
          <p:nvPr/>
        </p:nvSpPr>
        <p:spPr>
          <a:xfrm>
            <a:off x="6172200" y="4645152"/>
            <a:ext cx="329184" cy="329184"/>
          </a:xfrm>
          <a:prstGeom prst="ellipse">
            <a:avLst/>
          </a:prstGeom>
          <a:solidFill>
            <a:srgbClr val="A26769"/>
          </a:solidFill>
          <a:ln/>
        </p:spPr>
        <p:txBody>
          <a:bodyPr/>
          <a:lstStyle/>
          <a:p>
            <a:endParaRPr lang="en-GB" sz="2800"/>
          </a:p>
        </p:txBody>
      </p:sp>
      <p:sp>
        <p:nvSpPr>
          <p:cNvPr id="27" name="Text 25"/>
          <p:cNvSpPr/>
          <p:nvPr/>
        </p:nvSpPr>
        <p:spPr>
          <a:xfrm>
            <a:off x="6172200" y="4645152"/>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8" name="Text 26"/>
          <p:cNvSpPr/>
          <p:nvPr/>
        </p:nvSpPr>
        <p:spPr>
          <a:xfrm>
            <a:off x="6647688" y="4608576"/>
            <a:ext cx="4892040" cy="301752"/>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No fields invented</a:t>
            </a:r>
            <a:endParaRPr lang="en-US" dirty="0"/>
          </a:p>
        </p:txBody>
      </p:sp>
      <p:sp>
        <p:nvSpPr>
          <p:cNvPr id="29" name="Text 27"/>
          <p:cNvSpPr/>
          <p:nvPr/>
        </p:nvSpPr>
        <p:spPr>
          <a:xfrm>
            <a:off x="6647688" y="4937760"/>
            <a:ext cx="4892040" cy="10972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Per the brief, no Customer, Discount, Category or Profit Ratio fields were created. All analysis uses supplied fields only.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Data Transformation</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New variables created from existing fields only</a:t>
            </a:r>
            <a:endParaRPr lang="en-US" sz="1300" dirty="0"/>
          </a:p>
        </p:txBody>
      </p:sp>
      <p:sp>
        <p:nvSpPr>
          <p:cNvPr id="6" name="Shape 4"/>
          <p:cNvSpPr/>
          <p:nvPr/>
        </p:nvSpPr>
        <p:spPr>
          <a:xfrm>
            <a:off x="548640" y="1481328"/>
            <a:ext cx="11064240" cy="1188720"/>
          </a:xfrm>
          <a:prstGeom prst="roundRect">
            <a:avLst>
              <a:gd name="adj" fmla="val 5385"/>
            </a:avLst>
          </a:prstGeom>
          <a:solidFill>
            <a:srgbClr val="ECE2D0"/>
          </a:solidFill>
          <a:ln w="12700">
            <a:solidFill>
              <a:srgbClr val="ECE2D0"/>
            </a:solidFill>
            <a:prstDash val="solid"/>
          </a:ln>
        </p:spPr>
        <p:txBody>
          <a:bodyPr/>
          <a:lstStyle/>
          <a:p>
            <a:endParaRPr lang="en-GB" sz="2800"/>
          </a:p>
        </p:txBody>
      </p:sp>
      <p:sp>
        <p:nvSpPr>
          <p:cNvPr id="7" name="Text 5"/>
          <p:cNvSpPr/>
          <p:nvPr/>
        </p:nvSpPr>
        <p:spPr>
          <a:xfrm>
            <a:off x="768096" y="1609344"/>
            <a:ext cx="3200400" cy="310896"/>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Avg. Sales per Order</a:t>
            </a:r>
            <a:endParaRPr lang="en-US" sz="2000" dirty="0"/>
          </a:p>
        </p:txBody>
      </p:sp>
      <p:sp>
        <p:nvSpPr>
          <p:cNvPr id="8" name="Text 6"/>
          <p:cNvSpPr/>
          <p:nvPr/>
        </p:nvSpPr>
        <p:spPr>
          <a:xfrm>
            <a:off x="768096" y="1956816"/>
            <a:ext cx="3200400" cy="274320"/>
          </a:xfrm>
          <a:prstGeom prst="rect">
            <a:avLst/>
          </a:prstGeom>
          <a:noFill/>
          <a:ln/>
        </p:spPr>
        <p:txBody>
          <a:bodyPr wrap="square" lIns="0" tIns="0" rIns="0" bIns="0" rtlCol="0" anchor="ctr"/>
          <a:lstStyle/>
          <a:p>
            <a:pPr marL="0" indent="0">
              <a:buNone/>
            </a:pPr>
            <a:r>
              <a:rPr lang="en-US" sz="1400" i="1" dirty="0">
                <a:solidFill>
                  <a:srgbClr val="6E6E6E"/>
                </a:solidFill>
                <a:latin typeface="Calibri" pitchFamily="34" charset="0"/>
                <a:ea typeface="Calibri" pitchFamily="34" charset="-122"/>
                <a:cs typeface="Calibri" pitchFamily="34" charset="-120"/>
              </a:rPr>
              <a:t>Aggregate · Measure</a:t>
            </a:r>
            <a:endParaRPr lang="en-US" sz="1400" dirty="0"/>
          </a:p>
        </p:txBody>
      </p:sp>
      <p:sp>
        <p:nvSpPr>
          <p:cNvPr id="9" name="Text 7"/>
          <p:cNvSpPr/>
          <p:nvPr/>
        </p:nvSpPr>
        <p:spPr>
          <a:xfrm>
            <a:off x="4114800" y="1627632"/>
            <a:ext cx="4114800" cy="932688"/>
          </a:xfrm>
          <a:prstGeom prst="rect">
            <a:avLst/>
          </a:prstGeom>
          <a:noFill/>
          <a:ln/>
        </p:spPr>
        <p:txBody>
          <a:bodyPr wrap="square" lIns="0" tIns="0" rIns="0" bIns="0" rtlCol="0" anchor="t"/>
          <a:lstStyle/>
          <a:p>
            <a:pPr marL="0" indent="0">
              <a:buNone/>
            </a:pPr>
            <a:r>
              <a:rPr lang="en-US" sz="1400" dirty="0">
                <a:solidFill>
                  <a:srgbClr val="2B2B2B"/>
                </a:solidFill>
                <a:latin typeface="Courier New" pitchFamily="34" charset="0"/>
                <a:ea typeface="Courier New" pitchFamily="34" charset="-122"/>
                <a:cs typeface="Courier New" pitchFamily="34" charset="-120"/>
              </a:rPr>
              <a:t>SUM([Sales]) / COUNTD([OrderID])</a:t>
            </a:r>
            <a:endParaRPr lang="en-US" sz="1400" dirty="0"/>
          </a:p>
        </p:txBody>
      </p:sp>
      <p:sp>
        <p:nvSpPr>
          <p:cNvPr id="10" name="Text 8"/>
          <p:cNvSpPr/>
          <p:nvPr/>
        </p:nvSpPr>
        <p:spPr>
          <a:xfrm>
            <a:off x="8366760" y="1627632"/>
            <a:ext cx="3026664" cy="932688"/>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Normalises revenue by order count so regions of different size compare fairly. Q1 value: $98.52.</a:t>
            </a:r>
            <a:endParaRPr lang="en-US" sz="1600" dirty="0"/>
          </a:p>
        </p:txBody>
      </p:sp>
      <p:sp>
        <p:nvSpPr>
          <p:cNvPr id="11" name="Shape 9"/>
          <p:cNvSpPr/>
          <p:nvPr/>
        </p:nvSpPr>
        <p:spPr>
          <a:xfrm>
            <a:off x="548640" y="2852928"/>
            <a:ext cx="11064240" cy="1188720"/>
          </a:xfrm>
          <a:prstGeom prst="roundRect">
            <a:avLst>
              <a:gd name="adj" fmla="val 5385"/>
            </a:avLst>
          </a:prstGeom>
          <a:solidFill>
            <a:srgbClr val="ECE2D0"/>
          </a:solidFill>
          <a:ln w="12700">
            <a:solidFill>
              <a:srgbClr val="ECE2D0"/>
            </a:solidFill>
            <a:prstDash val="solid"/>
          </a:ln>
        </p:spPr>
        <p:txBody>
          <a:bodyPr/>
          <a:lstStyle/>
          <a:p>
            <a:endParaRPr lang="en-GB" sz="2800"/>
          </a:p>
        </p:txBody>
      </p:sp>
      <p:sp>
        <p:nvSpPr>
          <p:cNvPr id="12" name="Text 10"/>
          <p:cNvSpPr/>
          <p:nvPr/>
        </p:nvSpPr>
        <p:spPr>
          <a:xfrm>
            <a:off x="768096" y="2980944"/>
            <a:ext cx="3200400" cy="310896"/>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Avg. Unit Price (Weighted)</a:t>
            </a:r>
            <a:endParaRPr lang="en-US" sz="2000" dirty="0"/>
          </a:p>
        </p:txBody>
      </p:sp>
      <p:sp>
        <p:nvSpPr>
          <p:cNvPr id="13" name="Text 11"/>
          <p:cNvSpPr/>
          <p:nvPr/>
        </p:nvSpPr>
        <p:spPr>
          <a:xfrm>
            <a:off x="768096" y="3328416"/>
            <a:ext cx="3200400" cy="274320"/>
          </a:xfrm>
          <a:prstGeom prst="rect">
            <a:avLst/>
          </a:prstGeom>
          <a:noFill/>
          <a:ln/>
        </p:spPr>
        <p:txBody>
          <a:bodyPr wrap="square" lIns="0" tIns="0" rIns="0" bIns="0" rtlCol="0" anchor="ctr"/>
          <a:lstStyle/>
          <a:p>
            <a:pPr marL="0" indent="0">
              <a:buNone/>
            </a:pPr>
            <a:r>
              <a:rPr lang="en-US" sz="1400" i="1" dirty="0">
                <a:solidFill>
                  <a:srgbClr val="6E6E6E"/>
                </a:solidFill>
                <a:latin typeface="Calibri" pitchFamily="34" charset="0"/>
                <a:ea typeface="Calibri" pitchFamily="34" charset="-122"/>
                <a:cs typeface="Calibri" pitchFamily="34" charset="-120"/>
              </a:rPr>
              <a:t>Aggregate · Measure</a:t>
            </a:r>
            <a:endParaRPr lang="en-US" sz="1400" dirty="0"/>
          </a:p>
        </p:txBody>
      </p:sp>
      <p:sp>
        <p:nvSpPr>
          <p:cNvPr id="14" name="Text 12"/>
          <p:cNvSpPr/>
          <p:nvPr/>
        </p:nvSpPr>
        <p:spPr>
          <a:xfrm>
            <a:off x="4114800" y="2999232"/>
            <a:ext cx="4114800" cy="932688"/>
          </a:xfrm>
          <a:prstGeom prst="rect">
            <a:avLst/>
          </a:prstGeom>
          <a:noFill/>
          <a:ln/>
        </p:spPr>
        <p:txBody>
          <a:bodyPr wrap="square" lIns="0" tIns="0" rIns="0" bIns="0" rtlCol="0" anchor="t"/>
          <a:lstStyle/>
          <a:p>
            <a:pPr marL="0" indent="0">
              <a:buNone/>
            </a:pPr>
            <a:r>
              <a:rPr lang="en-US" sz="1400" dirty="0">
                <a:solidFill>
                  <a:srgbClr val="2B2B2B"/>
                </a:solidFill>
                <a:latin typeface="Courier New" pitchFamily="34" charset="0"/>
                <a:ea typeface="Courier New" pitchFamily="34" charset="-122"/>
                <a:cs typeface="Courier New" pitchFamily="34" charset="-120"/>
              </a:rPr>
              <a:t>SUM([Sales]) / SUM([Quantity])</a:t>
            </a:r>
            <a:endParaRPr lang="en-US" sz="1400" dirty="0"/>
          </a:p>
        </p:txBody>
      </p:sp>
      <p:sp>
        <p:nvSpPr>
          <p:cNvPr id="15" name="Text 13"/>
          <p:cNvSpPr/>
          <p:nvPr/>
        </p:nvSpPr>
        <p:spPr>
          <a:xfrm>
            <a:off x="8366760" y="2999232"/>
            <a:ext cx="3026664" cy="932688"/>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Weights price by units sold rather than averaging list prices, giving the true realised price. Q1 value: $24.86.</a:t>
            </a:r>
            <a:endParaRPr lang="en-US" sz="1600" dirty="0"/>
          </a:p>
        </p:txBody>
      </p:sp>
      <p:sp>
        <p:nvSpPr>
          <p:cNvPr id="16" name="Shape 14"/>
          <p:cNvSpPr/>
          <p:nvPr/>
        </p:nvSpPr>
        <p:spPr>
          <a:xfrm>
            <a:off x="548640" y="4224528"/>
            <a:ext cx="11064240" cy="1188720"/>
          </a:xfrm>
          <a:prstGeom prst="roundRect">
            <a:avLst>
              <a:gd name="adj" fmla="val 5385"/>
            </a:avLst>
          </a:prstGeom>
          <a:solidFill>
            <a:srgbClr val="ECE2D0"/>
          </a:solidFill>
          <a:ln w="12700">
            <a:solidFill>
              <a:srgbClr val="ECE2D0"/>
            </a:solidFill>
            <a:prstDash val="solid"/>
          </a:ln>
        </p:spPr>
        <p:txBody>
          <a:bodyPr/>
          <a:lstStyle/>
          <a:p>
            <a:endParaRPr lang="en-GB" sz="2800"/>
          </a:p>
        </p:txBody>
      </p:sp>
      <p:sp>
        <p:nvSpPr>
          <p:cNvPr id="17" name="Text 15"/>
          <p:cNvSpPr/>
          <p:nvPr/>
        </p:nvSpPr>
        <p:spPr>
          <a:xfrm>
            <a:off x="768096" y="4352544"/>
            <a:ext cx="3200400" cy="310896"/>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Order Size</a:t>
            </a:r>
            <a:endParaRPr lang="en-US" sz="2000" dirty="0"/>
          </a:p>
        </p:txBody>
      </p:sp>
      <p:sp>
        <p:nvSpPr>
          <p:cNvPr id="18" name="Text 16"/>
          <p:cNvSpPr/>
          <p:nvPr/>
        </p:nvSpPr>
        <p:spPr>
          <a:xfrm>
            <a:off x="768096" y="4700016"/>
            <a:ext cx="3200400" cy="274320"/>
          </a:xfrm>
          <a:prstGeom prst="rect">
            <a:avLst/>
          </a:prstGeom>
          <a:noFill/>
          <a:ln/>
        </p:spPr>
        <p:txBody>
          <a:bodyPr wrap="square" lIns="0" tIns="0" rIns="0" bIns="0" rtlCol="0" anchor="ctr"/>
          <a:lstStyle/>
          <a:p>
            <a:pPr marL="0" indent="0">
              <a:buNone/>
            </a:pPr>
            <a:r>
              <a:rPr lang="en-US" sz="1400" i="1" dirty="0">
                <a:solidFill>
                  <a:srgbClr val="6E6E6E"/>
                </a:solidFill>
                <a:latin typeface="Calibri" pitchFamily="34" charset="0"/>
                <a:ea typeface="Calibri" pitchFamily="34" charset="-122"/>
                <a:cs typeface="Calibri" pitchFamily="34" charset="-120"/>
              </a:rPr>
              <a:t>Row-level · Dimension</a:t>
            </a:r>
            <a:endParaRPr lang="en-US" sz="1400" dirty="0"/>
          </a:p>
        </p:txBody>
      </p:sp>
      <p:sp>
        <p:nvSpPr>
          <p:cNvPr id="19" name="Text 17"/>
          <p:cNvSpPr/>
          <p:nvPr/>
        </p:nvSpPr>
        <p:spPr>
          <a:xfrm>
            <a:off x="4114800" y="4370832"/>
            <a:ext cx="4114800" cy="932688"/>
          </a:xfrm>
          <a:prstGeom prst="rect">
            <a:avLst/>
          </a:prstGeom>
          <a:noFill/>
          <a:ln/>
        </p:spPr>
        <p:txBody>
          <a:bodyPr wrap="square" lIns="0" tIns="0" rIns="0" bIns="0" rtlCol="0" anchor="t"/>
          <a:lstStyle/>
          <a:p>
            <a:pPr marL="0" indent="0">
              <a:buNone/>
            </a:pPr>
            <a:r>
              <a:rPr lang="en-US" sz="1400" dirty="0">
                <a:solidFill>
                  <a:srgbClr val="2B2B2B"/>
                </a:solidFill>
                <a:latin typeface="Courier New" pitchFamily="34" charset="0"/>
                <a:ea typeface="Courier New" pitchFamily="34" charset="-122"/>
                <a:cs typeface="Courier New" pitchFamily="34" charset="-120"/>
              </a:rPr>
              <a:t>IF [Quantity] &gt;= 5 THEN "Large (5+)"</a:t>
            </a:r>
            <a:endParaRPr lang="en-US" sz="1400" dirty="0"/>
          </a:p>
          <a:p>
            <a:pPr marL="0" indent="0">
              <a:buNone/>
            </a:pPr>
            <a:r>
              <a:rPr lang="en-US" sz="1400" dirty="0">
                <a:solidFill>
                  <a:srgbClr val="2B2B2B"/>
                </a:solidFill>
                <a:latin typeface="Courier New" pitchFamily="34" charset="0"/>
                <a:ea typeface="Courier New" pitchFamily="34" charset="-122"/>
                <a:cs typeface="Courier New" pitchFamily="34" charset="-120"/>
              </a:rPr>
              <a:t>ELSEIF [Quantity] &gt;= 3 THEN "Medium (3-4)"</a:t>
            </a:r>
            <a:endParaRPr lang="en-US" sz="1400" dirty="0"/>
          </a:p>
          <a:p>
            <a:pPr marL="0" indent="0">
              <a:buNone/>
            </a:pPr>
            <a:r>
              <a:rPr lang="en-US" sz="1400" dirty="0">
                <a:solidFill>
                  <a:srgbClr val="2B2B2B"/>
                </a:solidFill>
                <a:latin typeface="Courier New" pitchFamily="34" charset="0"/>
                <a:ea typeface="Courier New" pitchFamily="34" charset="-122"/>
                <a:cs typeface="Courier New" pitchFamily="34" charset="-120"/>
              </a:rPr>
              <a:t>ELSE "Small (1-2)" END</a:t>
            </a:r>
            <a:endParaRPr lang="en-US" sz="1400" dirty="0"/>
          </a:p>
        </p:txBody>
      </p:sp>
      <p:sp>
        <p:nvSpPr>
          <p:cNvPr id="20" name="Text 18"/>
          <p:cNvSpPr/>
          <p:nvPr/>
        </p:nvSpPr>
        <p:spPr>
          <a:xfrm>
            <a:off x="8366760" y="4370832"/>
            <a:ext cx="3026664" cy="932688"/>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Bands each order by units so basket size can be used as a slicing dimension.</a:t>
            </a:r>
            <a:endParaRPr lang="en-US" sz="1600" dirty="0"/>
          </a:p>
        </p:txBody>
      </p:sp>
      <p:sp>
        <p:nvSpPr>
          <p:cNvPr id="23" name="Text 4">
            <a:extLst>
              <a:ext uri="{FF2B5EF4-FFF2-40B4-BE49-F238E27FC236}">
                <a16:creationId xmlns:a16="http://schemas.microsoft.com/office/drawing/2014/main" id="{E423226D-52E5-0DB2-35C2-C9877C19CD45}"/>
              </a:ext>
            </a:extLst>
          </p:cNvPr>
          <p:cNvSpPr/>
          <p:nvPr/>
        </p:nvSpPr>
        <p:spPr>
          <a:xfrm>
            <a:off x="548640" y="6108192"/>
            <a:ext cx="11064240" cy="310896"/>
          </a:xfrm>
          <a:prstGeom prst="rect">
            <a:avLst/>
          </a:prstGeom>
          <a:noFill/>
          <a:ln/>
        </p:spPr>
        <p:txBody>
          <a:bodyPr wrap="square" lIns="0" tIns="0" rIns="0" bIns="0" rtlCol="0" anchor="ctr"/>
          <a:lstStyle/>
          <a:p>
            <a:pPr marL="0" indent="0">
              <a:buNone/>
            </a:pPr>
            <a:r>
              <a:rPr lang="en-US" sz="1150" dirty="0"/>
              <a:t>It’s worth noting that by using distinct count of </a:t>
            </a:r>
            <a:r>
              <a:rPr lang="en-US" sz="1150" dirty="0" err="1"/>
              <a:t>orderID</a:t>
            </a:r>
            <a:r>
              <a:rPr lang="en-US" sz="1150" dirty="0"/>
              <a:t> total sales was divided by 749 not 750 due to the duplicate order ID which is not a duplicate order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Exploratory Data Analysis</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Descriptive statistics and first observations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3717990789"/>
              </p:ext>
            </p:extLst>
          </p:nvPr>
        </p:nvGraphicFramePr>
        <p:xfrm>
          <a:off x="548641" y="1481328"/>
          <a:ext cx="6664959" cy="1341120"/>
        </p:xfrm>
        <a:graphic>
          <a:graphicData uri="http://schemas.openxmlformats.org/drawingml/2006/table">
            <a:tbl>
              <a:tblPr/>
              <a:tblGrid>
                <a:gridCol w="1801341">
                  <a:extLst>
                    <a:ext uri="{9D8B030D-6E8A-4147-A177-3AD203B41FA5}">
                      <a16:colId xmlns:a16="http://schemas.microsoft.com/office/drawing/2014/main" val="20000"/>
                    </a:ext>
                  </a:extLst>
                </a:gridCol>
                <a:gridCol w="900670">
                  <a:extLst>
                    <a:ext uri="{9D8B030D-6E8A-4147-A177-3AD203B41FA5}">
                      <a16:colId xmlns:a16="http://schemas.microsoft.com/office/drawing/2014/main" val="20001"/>
                    </a:ext>
                  </a:extLst>
                </a:gridCol>
                <a:gridCol w="990737">
                  <a:extLst>
                    <a:ext uri="{9D8B030D-6E8A-4147-A177-3AD203B41FA5}">
                      <a16:colId xmlns:a16="http://schemas.microsoft.com/office/drawing/2014/main" val="20002"/>
                    </a:ext>
                  </a:extLst>
                </a:gridCol>
                <a:gridCol w="990737">
                  <a:extLst>
                    <a:ext uri="{9D8B030D-6E8A-4147-A177-3AD203B41FA5}">
                      <a16:colId xmlns:a16="http://schemas.microsoft.com/office/drawing/2014/main" val="20003"/>
                    </a:ext>
                  </a:extLst>
                </a:gridCol>
                <a:gridCol w="990737">
                  <a:extLst>
                    <a:ext uri="{9D8B030D-6E8A-4147-A177-3AD203B41FA5}">
                      <a16:colId xmlns:a16="http://schemas.microsoft.com/office/drawing/2014/main" val="20004"/>
                    </a:ext>
                  </a:extLst>
                </a:gridCol>
                <a:gridCol w="990737">
                  <a:extLst>
                    <a:ext uri="{9D8B030D-6E8A-4147-A177-3AD203B41FA5}">
                      <a16:colId xmlns:a16="http://schemas.microsoft.com/office/drawing/2014/main" val="20005"/>
                    </a:ext>
                  </a:extLst>
                </a:gridCol>
              </a:tblGrid>
              <a:tr h="27432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Min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Median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Mean</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Max</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Std dev</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Quantity (units)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3.96</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1.97</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Unit Price</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$5.06</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$25.76</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$25.15</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$44.97</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$11.34</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Sales</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$5.17</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$82.84</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$98.39</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$311.85</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pitchFamily="34" charset="0"/>
                          <a:ea typeface="Calibri" pitchFamily="34" charset="-122"/>
                          <a:cs typeface="Calibri" pitchFamily="34" charset="-120"/>
                        </a:rPr>
                        <a:t>$68.38</a:t>
                      </a:r>
                      <a:endParaRPr lang="en-US" sz="160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Text 11"/>
          <p:cNvSpPr/>
          <p:nvPr/>
        </p:nvSpPr>
        <p:spPr>
          <a:xfrm>
            <a:off x="7978140" y="236220"/>
            <a:ext cx="3540760" cy="310896"/>
          </a:xfrm>
          <a:prstGeom prst="rect">
            <a:avLst/>
          </a:prstGeom>
          <a:noFill/>
          <a:ln/>
        </p:spPr>
        <p:txBody>
          <a:bodyPr wrap="square" lIns="0" tIns="0" rIns="0" bIns="0" rtlCol="0" anchor="ctr"/>
          <a:lstStyle/>
          <a:p>
            <a:pPr marL="0" indent="0">
              <a:buNone/>
            </a:pPr>
            <a:r>
              <a:rPr lang="en-US" sz="2000" b="1" dirty="0">
                <a:solidFill>
                  <a:srgbClr val="6D2E46"/>
                </a:solidFill>
                <a:latin typeface="Calibri" pitchFamily="34" charset="0"/>
                <a:ea typeface="Calibri" pitchFamily="34" charset="-122"/>
                <a:cs typeface="Calibri" pitchFamily="34" charset="-120"/>
              </a:rPr>
              <a:t>Key findings from initial analysis</a:t>
            </a:r>
            <a:endParaRPr lang="en-US" sz="2000" dirty="0"/>
          </a:p>
        </p:txBody>
      </p:sp>
      <p:sp>
        <p:nvSpPr>
          <p:cNvPr id="16" name="Text 13"/>
          <p:cNvSpPr/>
          <p:nvPr/>
        </p:nvSpPr>
        <p:spPr>
          <a:xfrm>
            <a:off x="7462520" y="676656"/>
            <a:ext cx="4572000" cy="5432044"/>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Large orders of 5 or more units are 41% of rows but 61.7% of revenue, so basket size is the dominant lever.</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Revenue is not concentrated: the top 10 of 60 publishers account for only 23.9% of sales.</a:t>
            </a:r>
          </a:p>
          <a:p>
            <a:pPr marL="342900" indent="-342900">
              <a:spcAft>
                <a:spcPts val="800"/>
              </a:spcAft>
              <a:buSzPct val="100000"/>
              <a:buChar char="•"/>
            </a:pPr>
            <a:r>
              <a:rPr lang="en-GB" dirty="0"/>
              <a:t>Quantity ranges 1 to 7 with a median of 4. No single-item dominance in ordering behaviour.</a:t>
            </a:r>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Volume is stable month to month: January $24,387, February $23,414, March $25,991. No seasonal collapse.</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Sales is right-skewed: mean $98.39 sits well above median $82.84, pulled up by large multi-unit orders.</a:t>
            </a:r>
          </a:p>
          <a:p>
            <a:pPr marL="342900" indent="-342900">
              <a:spcAft>
                <a:spcPts val="800"/>
              </a:spcAft>
              <a:buSzPct val="100000"/>
              <a:buChar char="•"/>
            </a:pPr>
            <a:r>
              <a:rPr lang="en-GB" dirty="0"/>
              <a:t>Unit price spans $5.06 to $44.97 with a median of $25.76, sitting mid-range. There is no budget or premium split in the catalogue.</a:t>
            </a:r>
            <a:endParaRPr lang="en-US" dirty="0"/>
          </a:p>
          <a:p>
            <a:pPr marL="342900" indent="-342900">
              <a:spcAft>
                <a:spcPts val="800"/>
              </a:spcAft>
              <a:buSzPct val="100000"/>
              <a:buChar char="•"/>
            </a:pPr>
            <a:endParaRPr lang="en-US" dirty="0"/>
          </a:p>
        </p:txBody>
      </p:sp>
      <p:sp>
        <p:nvSpPr>
          <p:cNvPr id="19" name="Shape 4">
            <a:extLst>
              <a:ext uri="{FF2B5EF4-FFF2-40B4-BE49-F238E27FC236}">
                <a16:creationId xmlns:a16="http://schemas.microsoft.com/office/drawing/2014/main" id="{4E597889-836C-2BD7-4EB5-06C2A440AE22}"/>
              </a:ext>
            </a:extLst>
          </p:cNvPr>
          <p:cNvSpPr/>
          <p:nvPr/>
        </p:nvSpPr>
        <p:spPr>
          <a:xfrm>
            <a:off x="548640" y="2926079"/>
            <a:ext cx="6664959" cy="3685735"/>
          </a:xfrm>
          <a:prstGeom prst="roundRect">
            <a:avLst>
              <a:gd name="adj" fmla="val 1212"/>
            </a:avLst>
          </a:prstGeom>
          <a:solidFill>
            <a:srgbClr val="FAF7F4"/>
          </a:solidFill>
          <a:ln w="19050">
            <a:solidFill>
              <a:srgbClr val="A26769"/>
            </a:solidFill>
            <a:prstDash val="solid"/>
          </a:ln>
        </p:spPr>
        <p:txBody>
          <a:bodyPr/>
          <a:lstStyle/>
          <a:p>
            <a:endParaRPr lang="en-GB"/>
          </a:p>
        </p:txBody>
      </p:sp>
      <p:pic>
        <p:nvPicPr>
          <p:cNvPr id="21" name="Picture 20">
            <a:extLst>
              <a:ext uri="{FF2B5EF4-FFF2-40B4-BE49-F238E27FC236}">
                <a16:creationId xmlns:a16="http://schemas.microsoft.com/office/drawing/2014/main" id="{BF75FE61-C843-2855-F75B-A1C470ACC614}"/>
              </a:ext>
            </a:extLst>
          </p:cNvPr>
          <p:cNvPicPr>
            <a:picLocks noChangeAspect="1"/>
          </p:cNvPicPr>
          <p:nvPr/>
        </p:nvPicPr>
        <p:blipFill>
          <a:blip r:embed="rId3"/>
          <a:stretch>
            <a:fillRect/>
          </a:stretch>
        </p:blipFill>
        <p:spPr>
          <a:xfrm>
            <a:off x="689318" y="3057362"/>
            <a:ext cx="6260122" cy="33891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8</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Sales by Genre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2 · Bar chart, Genre on Columns, SUM(Sales) on Rows, Region on Colour</a:t>
            </a:r>
            <a:endParaRPr lang="en-US" sz="1300" dirty="0"/>
          </a:p>
        </p:txBody>
      </p:sp>
      <p:sp>
        <p:nvSpPr>
          <p:cNvPr id="6" name="Shape 4"/>
          <p:cNvSpPr/>
          <p:nvPr/>
        </p:nvSpPr>
        <p:spPr>
          <a:xfrm>
            <a:off x="182880" y="1481328"/>
            <a:ext cx="7635240" cy="4599432"/>
          </a:xfrm>
          <a:prstGeom prst="roundRect">
            <a:avLst>
              <a:gd name="adj" fmla="val 1212"/>
            </a:avLst>
          </a:prstGeom>
          <a:solidFill>
            <a:srgbClr val="FAF7F4"/>
          </a:solidFill>
          <a:ln w="19050">
            <a:solidFill>
              <a:srgbClr val="A26769"/>
            </a:solidFill>
            <a:prstDash val="solid"/>
          </a:ln>
        </p:spPr>
        <p:txBody>
          <a:bodyPr/>
          <a:lstStyle/>
          <a:p>
            <a:endParaRPr lang="en-GB"/>
          </a:p>
        </p:txBody>
      </p:sp>
      <p:sp>
        <p:nvSpPr>
          <p:cNvPr id="9" name="Text 7"/>
          <p:cNvSpPr/>
          <p:nvPr/>
        </p:nvSpPr>
        <p:spPr>
          <a:xfrm>
            <a:off x="7960201" y="1426816"/>
            <a:ext cx="3794760" cy="310896"/>
          </a:xfrm>
          <a:prstGeom prst="rect">
            <a:avLst/>
          </a:prstGeom>
          <a:noFill/>
          <a:ln/>
        </p:spPr>
        <p:txBody>
          <a:bodyPr wrap="square" lIns="0" tIns="0" rIns="0" bIns="0" rtlCol="0" anchor="ctr"/>
          <a:lstStyle/>
          <a:p>
            <a:pPr marL="0" indent="0">
              <a:buNone/>
            </a:pPr>
            <a:r>
              <a:rPr lang="en-US" sz="2400" b="1" dirty="0">
                <a:solidFill>
                  <a:srgbClr val="6D2E46"/>
                </a:solidFill>
                <a:latin typeface="Calibri" pitchFamily="34" charset="0"/>
                <a:ea typeface="Calibri" pitchFamily="34" charset="-122"/>
                <a:cs typeface="Calibri" pitchFamily="34" charset="-120"/>
              </a:rPr>
              <a:t>What it shows</a:t>
            </a:r>
            <a:endParaRPr lang="en-US" sz="2400" dirty="0"/>
          </a:p>
        </p:txBody>
      </p:sp>
      <p:sp>
        <p:nvSpPr>
          <p:cNvPr id="10" name="Text 8"/>
          <p:cNvSpPr/>
          <p:nvPr/>
        </p:nvSpPr>
        <p:spPr>
          <a:xfrm>
            <a:off x="7960201" y="1874520"/>
            <a:ext cx="3794760" cy="4206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History leads at $12,316.63 (16.7% of Q1 sales), followed by Sci-Fi at $11,121.71.</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Children is weakest at $6,886.85 (9.3%).</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The spread is narrow: only 7.4 percentage points separate best from worst. No genre is failing; none is dominant.</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History also carries the highest average order value at $116.19, well above the $98.52 overall average. It sells fewer orders but bigger ones.</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West colouring dominates every single bar, so regional skew rather than genre preference is the stronger signal.</a:t>
            </a:r>
            <a:endParaRPr lang="en-US" sz="1600" dirty="0"/>
          </a:p>
        </p:txBody>
      </p:sp>
      <p:pic>
        <p:nvPicPr>
          <p:cNvPr id="16" name="Picture 15">
            <a:extLst>
              <a:ext uri="{FF2B5EF4-FFF2-40B4-BE49-F238E27FC236}">
                <a16:creationId xmlns:a16="http://schemas.microsoft.com/office/drawing/2014/main" id="{B84EE2AC-2C78-B759-8A1C-A9BA91BA5F74}"/>
              </a:ext>
            </a:extLst>
          </p:cNvPr>
          <p:cNvPicPr>
            <a:picLocks noChangeAspect="1"/>
          </p:cNvPicPr>
          <p:nvPr/>
        </p:nvPicPr>
        <p:blipFill>
          <a:blip r:embed="rId3"/>
          <a:stretch>
            <a:fillRect/>
          </a:stretch>
        </p:blipFill>
        <p:spPr>
          <a:xfrm>
            <a:off x="247589" y="1636776"/>
            <a:ext cx="7505822" cy="4346917"/>
          </a:xfrm>
          <a:prstGeom prst="rect">
            <a:avLst/>
          </a:prstGeom>
        </p:spPr>
      </p:pic>
      <p:pic>
        <p:nvPicPr>
          <p:cNvPr id="14" name="Picture 13">
            <a:extLst>
              <a:ext uri="{FF2B5EF4-FFF2-40B4-BE49-F238E27FC236}">
                <a16:creationId xmlns:a16="http://schemas.microsoft.com/office/drawing/2014/main" id="{75AD5370-76CE-85B7-1AD5-C8B5F24DC3B2}"/>
              </a:ext>
            </a:extLst>
          </p:cNvPr>
          <p:cNvPicPr>
            <a:picLocks noChangeAspect="1"/>
          </p:cNvPicPr>
          <p:nvPr/>
        </p:nvPicPr>
        <p:blipFill>
          <a:blip r:embed="rId4"/>
          <a:stretch>
            <a:fillRect/>
          </a:stretch>
        </p:blipFill>
        <p:spPr>
          <a:xfrm>
            <a:off x="6371105" y="1982162"/>
            <a:ext cx="943107" cy="10860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Regional Performance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3 · Bar chart, Region on Columns, SUM(Sales) on Rows, Genre filter shown</a:t>
            </a:r>
            <a:endParaRPr lang="en-US" sz="1300" dirty="0"/>
          </a:p>
        </p:txBody>
      </p:sp>
      <p:sp>
        <p:nvSpPr>
          <p:cNvPr id="9" name="Text 7"/>
          <p:cNvSpPr/>
          <p:nvPr/>
        </p:nvSpPr>
        <p:spPr>
          <a:xfrm>
            <a:off x="7738989" y="1344168"/>
            <a:ext cx="3794760" cy="310896"/>
          </a:xfrm>
          <a:prstGeom prst="rect">
            <a:avLst/>
          </a:prstGeom>
          <a:noFill/>
          <a:ln/>
        </p:spPr>
        <p:txBody>
          <a:bodyPr wrap="square" lIns="0" tIns="0" rIns="0" bIns="0" rtlCol="0" anchor="ctr"/>
          <a:lstStyle/>
          <a:p>
            <a:pPr marL="0" indent="0">
              <a:buNone/>
            </a:pPr>
            <a:r>
              <a:rPr lang="en-US" b="1" dirty="0">
                <a:solidFill>
                  <a:srgbClr val="6D2E46"/>
                </a:solidFill>
                <a:latin typeface="Calibri" pitchFamily="34" charset="0"/>
                <a:ea typeface="Calibri" pitchFamily="34" charset="-122"/>
                <a:cs typeface="Calibri" pitchFamily="34" charset="-120"/>
              </a:rPr>
              <a:t>What it shows</a:t>
            </a:r>
            <a:endParaRPr lang="en-US" dirty="0"/>
          </a:p>
        </p:txBody>
      </p:sp>
      <p:sp>
        <p:nvSpPr>
          <p:cNvPr id="10" name="Text 8"/>
          <p:cNvSpPr/>
          <p:nvPr/>
        </p:nvSpPr>
        <p:spPr>
          <a:xfrm>
            <a:off x="7635240" y="1792224"/>
            <a:ext cx="3794760" cy="4723228"/>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West alone is 49.7% of all Q1 revenue, more than the other three regions combined.</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South is the clear laggard at $6,962.80 (9.4%), with only 80 orders.</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The gap is driven by order volume, not order value: West took 360 orders to South's 80.</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Average order value is far more even across regions, ranging only $87.04 to $101.85.</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This means South's problem is reach, not pricing or product mix.</a:t>
            </a:r>
            <a:endParaRPr lang="en-US"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892040"/>
          <a:ext cx="6903720" cy="1371600"/>
        </p:xfrm>
        <a:graphic>
          <a:graphicData uri="http://schemas.openxmlformats.org/drawingml/2006/table">
            <a:tbl>
              <a:tblPr/>
              <a:tblGrid>
                <a:gridCol w="15544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743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Region</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Orders</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Avg per order</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274320">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West</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$36,666.66</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49.7%</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360</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$101.85</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East</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$17,056.30</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23.1%</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174</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$98.02</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Central</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$13,106.97</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17.8%</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136</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$96.37</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South</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$6,962.80</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$87.04</a:t>
                      </a:r>
                      <a:endParaRPr lang="en-US" sz="1150" dirty="0">
                        <a:latin typeface="Calibri" charset="0"/>
                        <a:ea typeface="Calibri" charset="0"/>
                        <a:cs typeface="Calibri" charset="0"/>
                      </a:endParaRPr>
                    </a:p>
                  </a:txBody>
                  <a:tcPr anchor="ctr">
                    <a:lnL w="9525" cap="flat" cmpd="sng" algn="ctr">
                      <a:solidFill>
                        <a:srgbClr val="E4DAD3"/>
                      </a:solidFill>
                      <a:prstDash val="solid"/>
                      <a:round/>
                      <a:headEnd type="none" w="med" len="med"/>
                      <a:tailEnd type="none" w="med" len="med"/>
                    </a:lnL>
                    <a:lnR w="9525" cap="flat" cmpd="sng" algn="ctr">
                      <a:solidFill>
                        <a:srgbClr val="E4DAD3"/>
                      </a:solidFill>
                      <a:prstDash val="solid"/>
                      <a:round/>
                      <a:headEnd type="none" w="med" len="med"/>
                      <a:tailEnd type="none" w="med" len="med"/>
                    </a:lnR>
                    <a:lnT w="9525" cap="flat" cmpd="sng" algn="ctr">
                      <a:solidFill>
                        <a:srgbClr val="E4DAD3"/>
                      </a:solidFill>
                      <a:prstDash val="solid"/>
                      <a:round/>
                      <a:headEnd type="none" w="med" len="med"/>
                      <a:tailEnd type="none" w="med" len="med"/>
                    </a:lnT>
                    <a:lnB w="9525" cap="flat" cmpd="sng" algn="ctr">
                      <a:solidFill>
                        <a:srgbClr val="E4DA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15" name="Picture 14">
            <a:extLst>
              <a:ext uri="{FF2B5EF4-FFF2-40B4-BE49-F238E27FC236}">
                <a16:creationId xmlns:a16="http://schemas.microsoft.com/office/drawing/2014/main" id="{8C55D1BB-F465-1AAF-DCA5-23F6D1EA98A9}"/>
              </a:ext>
            </a:extLst>
          </p:cNvPr>
          <p:cNvPicPr>
            <a:picLocks noChangeAspect="1"/>
          </p:cNvPicPr>
          <p:nvPr/>
        </p:nvPicPr>
        <p:blipFill>
          <a:blip r:embed="rId3"/>
          <a:stretch>
            <a:fillRect/>
          </a:stretch>
        </p:blipFill>
        <p:spPr>
          <a:xfrm>
            <a:off x="835269" y="1623628"/>
            <a:ext cx="6330462" cy="30346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Sales Over Time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4 · Weekly trend by Genre    |    Task 9 · Running total by Region</a:t>
            </a:r>
            <a:endParaRPr lang="en-US" sz="1300" dirty="0"/>
          </a:p>
        </p:txBody>
      </p:sp>
      <p:sp>
        <p:nvSpPr>
          <p:cNvPr id="6" name="Shape 4"/>
          <p:cNvSpPr/>
          <p:nvPr/>
        </p:nvSpPr>
        <p:spPr>
          <a:xfrm>
            <a:off x="548640" y="1481328"/>
            <a:ext cx="3337560" cy="4526280"/>
          </a:xfrm>
          <a:prstGeom prst="roundRect">
            <a:avLst>
              <a:gd name="adj" fmla="val 1644"/>
            </a:avLst>
          </a:prstGeom>
          <a:solidFill>
            <a:srgbClr val="FAF7F4"/>
          </a:solidFill>
          <a:ln w="19050">
            <a:solidFill>
              <a:srgbClr val="A26769"/>
            </a:solidFill>
            <a:prstDash val="solid"/>
          </a:ln>
        </p:spPr>
        <p:txBody>
          <a:bodyPr/>
          <a:lstStyle/>
          <a:p>
            <a:endParaRPr lang="en-GB" dirty="0"/>
          </a:p>
        </p:txBody>
      </p:sp>
      <p:sp>
        <p:nvSpPr>
          <p:cNvPr id="9" name="Shape 7"/>
          <p:cNvSpPr/>
          <p:nvPr/>
        </p:nvSpPr>
        <p:spPr>
          <a:xfrm>
            <a:off x="4114800" y="1481328"/>
            <a:ext cx="4341224" cy="3055838"/>
          </a:xfrm>
          <a:prstGeom prst="roundRect">
            <a:avLst>
              <a:gd name="adj" fmla="val 1644"/>
            </a:avLst>
          </a:prstGeom>
          <a:solidFill>
            <a:srgbClr val="FAF7F4"/>
          </a:solidFill>
          <a:ln w="19050">
            <a:solidFill>
              <a:srgbClr val="A26769"/>
            </a:solidFill>
            <a:prstDash val="solid"/>
          </a:ln>
        </p:spPr>
        <p:txBody>
          <a:bodyPr/>
          <a:lstStyle/>
          <a:p>
            <a:endParaRPr lang="en-GB"/>
          </a:p>
        </p:txBody>
      </p:sp>
      <p:sp>
        <p:nvSpPr>
          <p:cNvPr id="12" name="Text 10"/>
          <p:cNvSpPr/>
          <p:nvPr/>
        </p:nvSpPr>
        <p:spPr>
          <a:xfrm>
            <a:off x="4060371" y="4537166"/>
            <a:ext cx="3794760"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What it shows</a:t>
            </a:r>
            <a:endParaRPr lang="en-US" sz="1500" dirty="0"/>
          </a:p>
        </p:txBody>
      </p:sp>
      <p:sp>
        <p:nvSpPr>
          <p:cNvPr id="13" name="Text 11"/>
          <p:cNvSpPr/>
          <p:nvPr/>
        </p:nvSpPr>
        <p:spPr>
          <a:xfrm>
            <a:off x="4060371" y="4921430"/>
            <a:ext cx="6812280" cy="4069079"/>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Weekly sales are steady between $5,100 and $7,300 for the bulk of the quarter.</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strongest week was the one beginning 18 March at $7,274, so the quarter finished on an upward trend.</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Two apparent troughs, the weeks beginning 29 January ($3,306) and 25 March ($3,438), are data artefacts: each monthly file stops on the 28th, so those weeks are partial. They are not real declines.</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running total shows West pulling away steadily from week one rather than spiking. This is a persistent structural advantage, not a one-off campaign.</a:t>
            </a:r>
            <a:endParaRPr lang="en-US" sz="1200" dirty="0"/>
          </a:p>
        </p:txBody>
      </p:sp>
      <p:pic>
        <p:nvPicPr>
          <p:cNvPr id="15" name="Picture 14">
            <a:extLst>
              <a:ext uri="{FF2B5EF4-FFF2-40B4-BE49-F238E27FC236}">
                <a16:creationId xmlns:a16="http://schemas.microsoft.com/office/drawing/2014/main" id="{B164EB55-5E61-97F1-A09F-30B719899A50}"/>
              </a:ext>
            </a:extLst>
          </p:cNvPr>
          <p:cNvPicPr>
            <a:picLocks noChangeAspect="1"/>
          </p:cNvPicPr>
          <p:nvPr/>
        </p:nvPicPr>
        <p:blipFill>
          <a:blip r:embed="rId3"/>
          <a:stretch>
            <a:fillRect/>
          </a:stretch>
        </p:blipFill>
        <p:spPr>
          <a:xfrm>
            <a:off x="591075" y="2372215"/>
            <a:ext cx="3252689" cy="3553097"/>
          </a:xfrm>
          <a:prstGeom prst="rect">
            <a:avLst/>
          </a:prstGeom>
        </p:spPr>
      </p:pic>
      <p:sp>
        <p:nvSpPr>
          <p:cNvPr id="17" name="Text 4">
            <a:extLst>
              <a:ext uri="{FF2B5EF4-FFF2-40B4-BE49-F238E27FC236}">
                <a16:creationId xmlns:a16="http://schemas.microsoft.com/office/drawing/2014/main" id="{55BFB15F-ED36-E15E-217D-8B163BCF7FC9}"/>
              </a:ext>
            </a:extLst>
          </p:cNvPr>
          <p:cNvSpPr/>
          <p:nvPr/>
        </p:nvSpPr>
        <p:spPr>
          <a:xfrm>
            <a:off x="182880" y="6400800"/>
            <a:ext cx="11064240" cy="310896"/>
          </a:xfrm>
          <a:prstGeom prst="rect">
            <a:avLst/>
          </a:prstGeom>
          <a:noFill/>
          <a:ln/>
        </p:spPr>
        <p:txBody>
          <a:bodyPr wrap="square" lIns="0" tIns="0" rIns="0" bIns="0" rtlCol="0" anchor="ctr"/>
          <a:lstStyle/>
          <a:p>
            <a:r>
              <a:rPr lang="en-GB" sz="1200" dirty="0"/>
              <a:t>Task 4 specifies a line chart with Genre on Colour. Eight genre lines across thirteen weeks produced an unreadable chart. A stacked bar was substituted: total weekly sales remain legible as bar height while genre composition is preserved as colour.</a:t>
            </a:r>
            <a:endParaRPr lang="en-US" sz="1150" dirty="0"/>
          </a:p>
        </p:txBody>
      </p:sp>
      <p:pic>
        <p:nvPicPr>
          <p:cNvPr id="19" name="Picture 18">
            <a:extLst>
              <a:ext uri="{FF2B5EF4-FFF2-40B4-BE49-F238E27FC236}">
                <a16:creationId xmlns:a16="http://schemas.microsoft.com/office/drawing/2014/main" id="{0A95D579-6602-719E-A297-D6BE24C5907C}"/>
              </a:ext>
            </a:extLst>
          </p:cNvPr>
          <p:cNvPicPr>
            <a:picLocks noChangeAspect="1"/>
          </p:cNvPicPr>
          <p:nvPr/>
        </p:nvPicPr>
        <p:blipFill>
          <a:blip r:embed="rId4"/>
          <a:stretch>
            <a:fillRect/>
          </a:stretch>
        </p:blipFill>
        <p:spPr>
          <a:xfrm>
            <a:off x="3090416" y="1527048"/>
            <a:ext cx="780894" cy="1242332"/>
          </a:xfrm>
          <a:prstGeom prst="rect">
            <a:avLst/>
          </a:prstGeom>
        </p:spPr>
      </p:pic>
      <p:pic>
        <p:nvPicPr>
          <p:cNvPr id="23" name="Picture 22">
            <a:extLst>
              <a:ext uri="{FF2B5EF4-FFF2-40B4-BE49-F238E27FC236}">
                <a16:creationId xmlns:a16="http://schemas.microsoft.com/office/drawing/2014/main" id="{18CD72D0-706D-7FDC-4BA7-17ABE3DE71C5}"/>
              </a:ext>
            </a:extLst>
          </p:cNvPr>
          <p:cNvPicPr>
            <a:picLocks noChangeAspect="1"/>
          </p:cNvPicPr>
          <p:nvPr/>
        </p:nvPicPr>
        <p:blipFill>
          <a:blip r:embed="rId5"/>
          <a:stretch>
            <a:fillRect/>
          </a:stretch>
        </p:blipFill>
        <p:spPr>
          <a:xfrm>
            <a:off x="4195777" y="1526144"/>
            <a:ext cx="4164451" cy="28962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11</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Publisher Performance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5 · Bar chart, PublisherName on Columns, sorted descending, shown as percent of total sales</a:t>
            </a:r>
            <a:endParaRPr lang="en-US" sz="1300" dirty="0"/>
          </a:p>
        </p:txBody>
      </p:sp>
      <p:sp>
        <p:nvSpPr>
          <p:cNvPr id="6" name="Shape 4"/>
          <p:cNvSpPr/>
          <p:nvPr/>
        </p:nvSpPr>
        <p:spPr>
          <a:xfrm>
            <a:off x="548640" y="1481328"/>
            <a:ext cx="6903720" cy="4526280"/>
          </a:xfrm>
          <a:prstGeom prst="roundRect">
            <a:avLst>
              <a:gd name="adj" fmla="val 1212"/>
            </a:avLst>
          </a:prstGeom>
          <a:solidFill>
            <a:srgbClr val="FAF7F4"/>
          </a:solidFill>
          <a:ln w="19050">
            <a:solidFill>
              <a:srgbClr val="A26769"/>
            </a:solidFill>
            <a:prstDash val="solid"/>
          </a:ln>
        </p:spPr>
        <p:txBody>
          <a:bodyPr/>
          <a:lstStyle/>
          <a:p>
            <a:endParaRPr lang="en-GB"/>
          </a:p>
        </p:txBody>
      </p:sp>
      <p:sp>
        <p:nvSpPr>
          <p:cNvPr id="9" name="Text 7"/>
          <p:cNvSpPr/>
          <p:nvPr/>
        </p:nvSpPr>
        <p:spPr>
          <a:xfrm>
            <a:off x="7818120" y="1481328"/>
            <a:ext cx="3794760"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What it shows</a:t>
            </a:r>
            <a:endParaRPr lang="en-US" sz="1500" dirty="0"/>
          </a:p>
        </p:txBody>
      </p:sp>
      <p:sp>
        <p:nvSpPr>
          <p:cNvPr id="10" name="Text 8"/>
          <p:cNvSpPr/>
          <p:nvPr/>
        </p:nvSpPr>
        <p:spPr>
          <a:xfrm>
            <a:off x="7818120" y="1874520"/>
            <a:ext cx="379476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Revenue is highly fragmented across 60 publishers. The top 10 account for approximately 24% of Q1 sales.</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Publisher_013 leads at $2,171.33; Publisher_058 trails at $327.94, a 6.6x gap between best and worst.</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No single partner is critical to the business, which lowers supplier risk but also means no publisher has meaningful negotiating leverage.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top five publishers sit within 0.6 percentage points of each other, so the leaderboard is unstable and could reorder on a single large quarter.</a:t>
            </a:r>
            <a:endParaRPr lang="en-US" sz="1200" dirty="0"/>
          </a:p>
        </p:txBody>
      </p:sp>
      <p:pic>
        <p:nvPicPr>
          <p:cNvPr id="18" name="Picture 17">
            <a:extLst>
              <a:ext uri="{FF2B5EF4-FFF2-40B4-BE49-F238E27FC236}">
                <a16:creationId xmlns:a16="http://schemas.microsoft.com/office/drawing/2014/main" id="{08B1DBA6-F358-C603-F812-32FBB18C2528}"/>
              </a:ext>
            </a:extLst>
          </p:cNvPr>
          <p:cNvPicPr>
            <a:picLocks noChangeAspect="1"/>
          </p:cNvPicPr>
          <p:nvPr/>
        </p:nvPicPr>
        <p:blipFill>
          <a:blip r:embed="rId3"/>
          <a:stretch>
            <a:fillRect/>
          </a:stretch>
        </p:blipFill>
        <p:spPr>
          <a:xfrm>
            <a:off x="673563" y="1653758"/>
            <a:ext cx="6653873" cy="4271554"/>
          </a:xfrm>
          <a:prstGeom prst="rect">
            <a:avLst/>
          </a:prstGeom>
        </p:spPr>
      </p:pic>
      <p:pic>
        <p:nvPicPr>
          <p:cNvPr id="16" name="Picture 15">
            <a:extLst>
              <a:ext uri="{FF2B5EF4-FFF2-40B4-BE49-F238E27FC236}">
                <a16:creationId xmlns:a16="http://schemas.microsoft.com/office/drawing/2014/main" id="{B7BD2EF4-05F5-152E-F331-3390C9176648}"/>
              </a:ext>
            </a:extLst>
          </p:cNvPr>
          <p:cNvPicPr>
            <a:picLocks noChangeAspect="1"/>
          </p:cNvPicPr>
          <p:nvPr/>
        </p:nvPicPr>
        <p:blipFill>
          <a:blip r:embed="rId4"/>
          <a:srcRect t="6019" b="15320"/>
          <a:stretch>
            <a:fillRect/>
          </a:stretch>
        </p:blipFill>
        <p:spPr>
          <a:xfrm>
            <a:off x="6245065" y="1678142"/>
            <a:ext cx="990738" cy="12888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Order Value &amp; Basket Size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6 · Avg. Sales per Order by Region    |    SUM(Sales) by Order Size</a:t>
            </a:r>
            <a:endParaRPr lang="en-US" sz="1300" dirty="0"/>
          </a:p>
        </p:txBody>
      </p:sp>
      <p:sp>
        <p:nvSpPr>
          <p:cNvPr id="6" name="Shape 4"/>
          <p:cNvSpPr/>
          <p:nvPr/>
        </p:nvSpPr>
        <p:spPr>
          <a:xfrm>
            <a:off x="548640" y="1481328"/>
            <a:ext cx="3337560" cy="4526280"/>
          </a:xfrm>
          <a:prstGeom prst="roundRect">
            <a:avLst>
              <a:gd name="adj" fmla="val 1644"/>
            </a:avLst>
          </a:prstGeom>
          <a:solidFill>
            <a:srgbClr val="FAF7F4"/>
          </a:solidFill>
          <a:ln w="19050">
            <a:solidFill>
              <a:srgbClr val="A26769"/>
            </a:solidFill>
            <a:prstDash val="solid"/>
          </a:ln>
        </p:spPr>
        <p:txBody>
          <a:bodyPr/>
          <a:lstStyle/>
          <a:p>
            <a:endParaRPr lang="en-GB"/>
          </a:p>
        </p:txBody>
      </p:sp>
      <p:sp>
        <p:nvSpPr>
          <p:cNvPr id="9" name="Shape 7"/>
          <p:cNvSpPr/>
          <p:nvPr/>
        </p:nvSpPr>
        <p:spPr>
          <a:xfrm>
            <a:off x="4114800" y="1481328"/>
            <a:ext cx="3337560" cy="4526280"/>
          </a:xfrm>
          <a:prstGeom prst="roundRect">
            <a:avLst>
              <a:gd name="adj" fmla="val 1644"/>
            </a:avLst>
          </a:prstGeom>
          <a:solidFill>
            <a:srgbClr val="FAF7F4"/>
          </a:solidFill>
          <a:ln w="19050">
            <a:solidFill>
              <a:srgbClr val="A26769"/>
            </a:solidFill>
            <a:prstDash val="solid"/>
          </a:ln>
        </p:spPr>
        <p:txBody>
          <a:bodyPr/>
          <a:lstStyle/>
          <a:p>
            <a:endParaRPr lang="en-GB"/>
          </a:p>
        </p:txBody>
      </p:sp>
      <p:sp>
        <p:nvSpPr>
          <p:cNvPr id="12" name="Text 10"/>
          <p:cNvSpPr/>
          <p:nvPr/>
        </p:nvSpPr>
        <p:spPr>
          <a:xfrm>
            <a:off x="7818120" y="1481328"/>
            <a:ext cx="3794760"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What it shows</a:t>
            </a:r>
            <a:endParaRPr lang="en-US" sz="1500" dirty="0"/>
          </a:p>
        </p:txBody>
      </p:sp>
      <p:sp>
        <p:nvSpPr>
          <p:cNvPr id="13" name="Text 11"/>
          <p:cNvSpPr/>
          <p:nvPr/>
        </p:nvSpPr>
        <p:spPr>
          <a:xfrm>
            <a:off x="7818120" y="1874520"/>
            <a:ext cx="379476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Average order value barely moves across regions: $101.85 in West down to $87.04 in South, so South sits just 15% below West.</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Compare that with the 5.3x gap in total regional sales, confirming that volume rather than value drives the regional difference.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Basket size is where the real concentration sits. Large orders of 5+ units are $45,509 of revenue, or 61.7% of the quarter.</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Small orders of 1–2 units are 29% of rows but only 11.6% of revenue.</a:t>
            </a:r>
            <a:endParaRPr lang="en-US" sz="1200" dirty="0"/>
          </a:p>
        </p:txBody>
      </p:sp>
      <p:pic>
        <p:nvPicPr>
          <p:cNvPr id="17" name="Picture 16">
            <a:extLst>
              <a:ext uri="{FF2B5EF4-FFF2-40B4-BE49-F238E27FC236}">
                <a16:creationId xmlns:a16="http://schemas.microsoft.com/office/drawing/2014/main" id="{318417A2-E553-3505-27EF-72F2D16E2204}"/>
              </a:ext>
            </a:extLst>
          </p:cNvPr>
          <p:cNvPicPr>
            <a:picLocks noChangeAspect="1"/>
          </p:cNvPicPr>
          <p:nvPr/>
        </p:nvPicPr>
        <p:blipFill>
          <a:blip r:embed="rId3"/>
          <a:stretch>
            <a:fillRect/>
          </a:stretch>
        </p:blipFill>
        <p:spPr>
          <a:xfrm>
            <a:off x="682942" y="1554585"/>
            <a:ext cx="2931797" cy="4411873"/>
          </a:xfrm>
          <a:prstGeom prst="rect">
            <a:avLst/>
          </a:prstGeom>
        </p:spPr>
      </p:pic>
      <p:pic>
        <p:nvPicPr>
          <p:cNvPr id="19" name="Picture 18">
            <a:extLst>
              <a:ext uri="{FF2B5EF4-FFF2-40B4-BE49-F238E27FC236}">
                <a16:creationId xmlns:a16="http://schemas.microsoft.com/office/drawing/2014/main" id="{E8998325-A780-8C59-8A57-252879157D38}"/>
              </a:ext>
            </a:extLst>
          </p:cNvPr>
          <p:cNvPicPr>
            <a:picLocks noChangeAspect="1"/>
          </p:cNvPicPr>
          <p:nvPr/>
        </p:nvPicPr>
        <p:blipFill>
          <a:blip r:embed="rId4"/>
          <a:stretch>
            <a:fillRect/>
          </a:stretch>
        </p:blipFill>
        <p:spPr>
          <a:xfrm>
            <a:off x="4173583" y="1595734"/>
            <a:ext cx="3188751" cy="43295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13</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Genre vs Region Highlight Table</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7 · Highlight table, Region on Rows, Genre on Columns, Square marks coloured by SUM(Sales)</a:t>
            </a:r>
            <a:endParaRPr lang="en-US" sz="1300" dirty="0"/>
          </a:p>
        </p:txBody>
      </p:sp>
      <p:sp>
        <p:nvSpPr>
          <p:cNvPr id="6" name="Shape 4"/>
          <p:cNvSpPr/>
          <p:nvPr/>
        </p:nvSpPr>
        <p:spPr>
          <a:xfrm>
            <a:off x="548640" y="1481328"/>
            <a:ext cx="6903720" cy="4526280"/>
          </a:xfrm>
          <a:prstGeom prst="roundRect">
            <a:avLst>
              <a:gd name="adj" fmla="val 1212"/>
            </a:avLst>
          </a:prstGeom>
          <a:solidFill>
            <a:srgbClr val="FAF7F4"/>
          </a:solidFill>
          <a:ln w="19050">
            <a:solidFill>
              <a:srgbClr val="A26769"/>
            </a:solidFill>
            <a:prstDash val="solid"/>
          </a:ln>
        </p:spPr>
        <p:txBody>
          <a:bodyPr/>
          <a:lstStyle/>
          <a:p>
            <a:endParaRPr lang="en-GB"/>
          </a:p>
        </p:txBody>
      </p:sp>
      <p:sp>
        <p:nvSpPr>
          <p:cNvPr id="9" name="Text 7"/>
          <p:cNvSpPr/>
          <p:nvPr/>
        </p:nvSpPr>
        <p:spPr>
          <a:xfrm>
            <a:off x="7818120" y="1481328"/>
            <a:ext cx="3794760"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What it shows</a:t>
            </a:r>
            <a:endParaRPr lang="en-US" sz="1500" dirty="0"/>
          </a:p>
        </p:txBody>
      </p:sp>
      <p:sp>
        <p:nvSpPr>
          <p:cNvPr id="10" name="Text 8"/>
          <p:cNvSpPr/>
          <p:nvPr/>
        </p:nvSpPr>
        <p:spPr>
          <a:xfrm>
            <a:off x="7818120" y="1874520"/>
            <a:ext cx="379476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hot corner is West × History at $6,287, the single strongest genre-region cell in the business.</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cold corner is South × Non-Fiction at $156, which is effectively no trade at all.</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That is a 40x spread between the best and worst cells.</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West is strong across every genre without exception, which points to a distribution or store-footprint advantage rather than a merchandising one.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South shows no genre it performs well in. There is no niche to build on, so any Q2 action there starts from scratch.</a:t>
            </a:r>
            <a:endParaRPr lang="en-US" sz="1200" dirty="0"/>
          </a:p>
        </p:txBody>
      </p:sp>
      <p:pic>
        <p:nvPicPr>
          <p:cNvPr id="12" name="Picture 11">
            <a:extLst>
              <a:ext uri="{FF2B5EF4-FFF2-40B4-BE49-F238E27FC236}">
                <a16:creationId xmlns:a16="http://schemas.microsoft.com/office/drawing/2014/main" id="{56732E23-45AF-9B9B-FFA6-4856D8B8ECF1}"/>
              </a:ext>
            </a:extLst>
          </p:cNvPr>
          <p:cNvPicPr>
            <a:picLocks noChangeAspect="1"/>
          </p:cNvPicPr>
          <p:nvPr/>
        </p:nvPicPr>
        <p:blipFill>
          <a:blip r:embed="rId3"/>
          <a:stretch>
            <a:fillRect/>
          </a:stretch>
        </p:blipFill>
        <p:spPr>
          <a:xfrm>
            <a:off x="579119" y="1499615"/>
            <a:ext cx="6815333" cy="3812613"/>
          </a:xfrm>
          <a:prstGeom prst="rect">
            <a:avLst/>
          </a:prstGeom>
        </p:spPr>
      </p:pic>
      <p:pic>
        <p:nvPicPr>
          <p:cNvPr id="14" name="Picture 13">
            <a:extLst>
              <a:ext uri="{FF2B5EF4-FFF2-40B4-BE49-F238E27FC236}">
                <a16:creationId xmlns:a16="http://schemas.microsoft.com/office/drawing/2014/main" id="{D93A1447-30CD-E238-22C5-8EA3519BC0D0}"/>
              </a:ext>
            </a:extLst>
          </p:cNvPr>
          <p:cNvPicPr>
            <a:picLocks noChangeAspect="1"/>
          </p:cNvPicPr>
          <p:nvPr/>
        </p:nvPicPr>
        <p:blipFill>
          <a:blip r:embed="rId4"/>
          <a:stretch>
            <a:fillRect/>
          </a:stretch>
        </p:blipFill>
        <p:spPr>
          <a:xfrm>
            <a:off x="2934789" y="5312228"/>
            <a:ext cx="1853068" cy="6652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14</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Visual Analysis: Sales vs Quantity</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8 · Scatter plot, Quantity on Columns, Sales on Rows, OrderID on Detail, Genre on Colour</a:t>
            </a:r>
            <a:endParaRPr lang="en-US" sz="1300" dirty="0"/>
          </a:p>
        </p:txBody>
      </p:sp>
      <p:sp>
        <p:nvSpPr>
          <p:cNvPr id="6" name="Shape 4"/>
          <p:cNvSpPr/>
          <p:nvPr/>
        </p:nvSpPr>
        <p:spPr>
          <a:xfrm>
            <a:off x="461554" y="1225296"/>
            <a:ext cx="5573486" cy="5528154"/>
          </a:xfrm>
          <a:prstGeom prst="roundRect">
            <a:avLst>
              <a:gd name="adj" fmla="val 1212"/>
            </a:avLst>
          </a:prstGeom>
          <a:solidFill>
            <a:srgbClr val="FAF7F4"/>
          </a:solidFill>
          <a:ln w="19050">
            <a:solidFill>
              <a:srgbClr val="A26769"/>
            </a:solidFill>
            <a:prstDash val="solid"/>
          </a:ln>
        </p:spPr>
        <p:txBody>
          <a:bodyPr/>
          <a:lstStyle/>
          <a:p>
            <a:endParaRPr lang="en-GB"/>
          </a:p>
        </p:txBody>
      </p:sp>
      <p:sp>
        <p:nvSpPr>
          <p:cNvPr id="9" name="Text 7"/>
          <p:cNvSpPr/>
          <p:nvPr/>
        </p:nvSpPr>
        <p:spPr>
          <a:xfrm>
            <a:off x="6409944" y="1464782"/>
            <a:ext cx="3794760"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What it shows</a:t>
            </a:r>
            <a:endParaRPr lang="en-US" sz="1500" dirty="0"/>
          </a:p>
        </p:txBody>
      </p:sp>
      <p:sp>
        <p:nvSpPr>
          <p:cNvPr id="10" name="Text 8"/>
          <p:cNvSpPr/>
          <p:nvPr/>
        </p:nvSpPr>
        <p:spPr>
          <a:xfrm>
            <a:off x="6399058" y="1874520"/>
            <a:ext cx="379476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Points fan upward and outward from the origin: at each quantity step the possible sales range widens, because unit price varies independently.</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The upper envelope is set by the 7-unit orders at premium prices: the largest single order is $311.85 (History, 7 units at $44.55).</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No genre clusters in a distinct price band. Colour is scattered evenly throughout, meaning genre does not predict order value.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Four orders exceed the IQR outlier threshold. All are legitimate high-quantity, high-price purchases and were retained.</a:t>
            </a:r>
            <a:endParaRPr lang="en-US" sz="1200" dirty="0"/>
          </a:p>
        </p:txBody>
      </p:sp>
      <p:pic>
        <p:nvPicPr>
          <p:cNvPr id="12" name="Picture 11">
            <a:extLst>
              <a:ext uri="{FF2B5EF4-FFF2-40B4-BE49-F238E27FC236}">
                <a16:creationId xmlns:a16="http://schemas.microsoft.com/office/drawing/2014/main" id="{2414DC1C-45F1-A9E7-A827-B6672CDBFC72}"/>
              </a:ext>
            </a:extLst>
          </p:cNvPr>
          <p:cNvPicPr>
            <a:picLocks noChangeAspect="1"/>
          </p:cNvPicPr>
          <p:nvPr/>
        </p:nvPicPr>
        <p:blipFill>
          <a:blip r:embed="rId3"/>
          <a:stretch>
            <a:fillRect/>
          </a:stretch>
        </p:blipFill>
        <p:spPr>
          <a:xfrm>
            <a:off x="548640" y="1341579"/>
            <a:ext cx="5338354" cy="5272122"/>
          </a:xfrm>
          <a:prstGeom prst="rect">
            <a:avLst/>
          </a:prstGeom>
        </p:spPr>
      </p:pic>
      <p:pic>
        <p:nvPicPr>
          <p:cNvPr id="14" name="Picture 13">
            <a:extLst>
              <a:ext uri="{FF2B5EF4-FFF2-40B4-BE49-F238E27FC236}">
                <a16:creationId xmlns:a16="http://schemas.microsoft.com/office/drawing/2014/main" id="{5059B2F4-A7DE-41F6-2B7D-D2DC47A9E2C7}"/>
              </a:ext>
            </a:extLst>
          </p:cNvPr>
          <p:cNvPicPr>
            <a:picLocks noChangeAspect="1"/>
          </p:cNvPicPr>
          <p:nvPr/>
        </p:nvPicPr>
        <p:blipFill>
          <a:blip r:embed="rId4"/>
          <a:stretch>
            <a:fillRect/>
          </a:stretch>
        </p:blipFill>
        <p:spPr>
          <a:xfrm>
            <a:off x="1681199" y="1792224"/>
            <a:ext cx="1409897" cy="23434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15</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Executive Dashboard</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Task 10 · Four views combined with interactive Region, Genre and PublisherName filters</a:t>
            </a:r>
            <a:endParaRPr lang="en-US" sz="1300" dirty="0"/>
          </a:p>
        </p:txBody>
      </p:sp>
      <p:sp>
        <p:nvSpPr>
          <p:cNvPr id="6" name="Shape 4"/>
          <p:cNvSpPr/>
          <p:nvPr/>
        </p:nvSpPr>
        <p:spPr>
          <a:xfrm>
            <a:off x="548640" y="1481328"/>
            <a:ext cx="7680960" cy="4526280"/>
          </a:xfrm>
          <a:prstGeom prst="roundRect">
            <a:avLst>
              <a:gd name="adj" fmla="val 1212"/>
            </a:avLst>
          </a:prstGeom>
          <a:solidFill>
            <a:srgbClr val="FAF7F4"/>
          </a:solidFill>
          <a:ln w="19050">
            <a:solidFill>
              <a:srgbClr val="A26769"/>
            </a:solidFill>
            <a:prstDash val="solid"/>
          </a:ln>
        </p:spPr>
        <p:txBody>
          <a:bodyPr/>
          <a:lstStyle/>
          <a:p>
            <a:endParaRPr lang="en-GB"/>
          </a:p>
        </p:txBody>
      </p:sp>
      <p:sp>
        <p:nvSpPr>
          <p:cNvPr id="9" name="Text 7"/>
          <p:cNvSpPr/>
          <p:nvPr/>
        </p:nvSpPr>
        <p:spPr>
          <a:xfrm>
            <a:off x="8613648" y="1481328"/>
            <a:ext cx="2999232" cy="310896"/>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Dashboard design decisions</a:t>
            </a:r>
            <a:endParaRPr lang="en-US" sz="1500" dirty="0"/>
          </a:p>
        </p:txBody>
      </p:sp>
      <p:sp>
        <p:nvSpPr>
          <p:cNvPr id="10" name="Text 8"/>
          <p:cNvSpPr/>
          <p:nvPr/>
        </p:nvSpPr>
        <p:spPr>
          <a:xfrm>
            <a:off x="8613648" y="1874520"/>
            <a:ext cx="2999232" cy="4114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Four views: Sales by Genre, Regional Performance, Running Total and Publisher Performance.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All three filters set to dropdown controls to keep the header compact.</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Filters applied to all worksheets using the data source, so one selection moves every chart.</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Publisher axis header hidden and the measure shown as percent of total, since 60 labels were illegible at dashboard scale.</a:t>
            </a:r>
            <a:endParaRPr lang="en-US" sz="1200" dirty="0"/>
          </a:p>
          <a:p>
            <a:pPr marL="342900" indent="-342900">
              <a:spcAft>
                <a:spcPts val="800"/>
              </a:spcAft>
              <a:buSzPct val="100000"/>
              <a:buChar char="•"/>
            </a:pPr>
            <a:r>
              <a:rPr lang="en-US" sz="1200" dirty="0">
                <a:solidFill>
                  <a:srgbClr val="2B2B2B"/>
                </a:solidFill>
                <a:latin typeface="Calibri" pitchFamily="34" charset="0"/>
                <a:ea typeface="Calibri" pitchFamily="34" charset="-122"/>
                <a:cs typeface="Calibri" pitchFamily="34" charset="-120"/>
              </a:rPr>
              <a:t>All 60 publishers retained rather than filtered, so the fragmentation of revenue stays visible.</a:t>
            </a:r>
            <a:endParaRPr lang="en-US" sz="1200" dirty="0"/>
          </a:p>
        </p:txBody>
      </p:sp>
      <p:pic>
        <p:nvPicPr>
          <p:cNvPr id="12" name="Picture 11">
            <a:extLst>
              <a:ext uri="{FF2B5EF4-FFF2-40B4-BE49-F238E27FC236}">
                <a16:creationId xmlns:a16="http://schemas.microsoft.com/office/drawing/2014/main" id="{78C434DB-C0C9-AC1C-690A-AEBDD47CC54D}"/>
              </a:ext>
            </a:extLst>
          </p:cNvPr>
          <p:cNvPicPr>
            <a:picLocks noChangeAspect="1"/>
          </p:cNvPicPr>
          <p:nvPr/>
        </p:nvPicPr>
        <p:blipFill>
          <a:blip r:embed="rId3"/>
          <a:stretch>
            <a:fillRect/>
          </a:stretch>
        </p:blipFill>
        <p:spPr>
          <a:xfrm>
            <a:off x="579120" y="1527049"/>
            <a:ext cx="7580811" cy="419185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16</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Insights &amp; Findings</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Answers to the five questions set at the start</a:t>
            </a:r>
            <a:endParaRPr lang="en-US" sz="1300" dirty="0"/>
          </a:p>
        </p:txBody>
      </p:sp>
      <p:sp>
        <p:nvSpPr>
          <p:cNvPr id="6" name="Shape 4"/>
          <p:cNvSpPr/>
          <p:nvPr/>
        </p:nvSpPr>
        <p:spPr>
          <a:xfrm>
            <a:off x="548640" y="1444752"/>
            <a:ext cx="11064240" cy="822960"/>
          </a:xfrm>
          <a:prstGeom prst="roundRect">
            <a:avLst>
              <a:gd name="adj" fmla="val 6667"/>
            </a:avLst>
          </a:prstGeom>
          <a:solidFill>
            <a:srgbClr val="ECE2D0"/>
          </a:solidFill>
          <a:ln w="12700">
            <a:solidFill>
              <a:srgbClr val="FFFFFF"/>
            </a:solidFill>
            <a:prstDash val="solid"/>
          </a:ln>
        </p:spPr>
        <p:txBody>
          <a:bodyPr/>
          <a:lstStyle/>
          <a:p>
            <a:endParaRPr lang="en-GB"/>
          </a:p>
        </p:txBody>
      </p:sp>
      <p:sp>
        <p:nvSpPr>
          <p:cNvPr id="7" name="Text 5"/>
          <p:cNvSpPr/>
          <p:nvPr/>
        </p:nvSpPr>
        <p:spPr>
          <a:xfrm>
            <a:off x="731520" y="1444752"/>
            <a:ext cx="502920" cy="822960"/>
          </a:xfrm>
          <a:prstGeom prst="rect">
            <a:avLst/>
          </a:prstGeom>
          <a:noFill/>
          <a:ln/>
        </p:spPr>
        <p:txBody>
          <a:bodyPr wrap="square" lIns="0" tIns="0" rIns="0" bIns="0" rtlCol="0" anchor="ctr"/>
          <a:lstStyle/>
          <a:p>
            <a:pPr marL="0" indent="0">
              <a:buNone/>
            </a:pPr>
            <a:r>
              <a:rPr lang="en-US" sz="1600" b="1" dirty="0">
                <a:solidFill>
                  <a:srgbClr val="A26769"/>
                </a:solidFill>
                <a:latin typeface="Cambria" pitchFamily="34" charset="0"/>
                <a:ea typeface="Cambria" pitchFamily="34" charset="-122"/>
                <a:cs typeface="Cambria" pitchFamily="34" charset="-120"/>
              </a:rPr>
              <a:t>Q1</a:t>
            </a:r>
            <a:endParaRPr lang="en-US" sz="1600" dirty="0"/>
          </a:p>
        </p:txBody>
      </p:sp>
      <p:sp>
        <p:nvSpPr>
          <p:cNvPr id="8" name="Text 6"/>
          <p:cNvSpPr/>
          <p:nvPr/>
        </p:nvSpPr>
        <p:spPr>
          <a:xfrm>
            <a:off x="1325880" y="1444752"/>
            <a:ext cx="2880360" cy="8229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Genre is not the problem</a:t>
            </a:r>
            <a:endParaRPr lang="en-US" sz="1350" dirty="0"/>
          </a:p>
        </p:txBody>
      </p:sp>
      <p:sp>
        <p:nvSpPr>
          <p:cNvPr id="9" name="Text 7"/>
          <p:cNvSpPr/>
          <p:nvPr/>
        </p:nvSpPr>
        <p:spPr>
          <a:xfrm>
            <a:off x="4343400" y="1444752"/>
            <a:ext cx="7086600" cy="8229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History leads at $12,317 and Children trails at $6,887, but only 7.4 points of share separate them. Every genre trades. There is no dead category to cut.</a:t>
            </a:r>
            <a:endParaRPr lang="en-US" sz="1400" dirty="0"/>
          </a:p>
        </p:txBody>
      </p:sp>
      <p:sp>
        <p:nvSpPr>
          <p:cNvPr id="10" name="Shape 8"/>
          <p:cNvSpPr/>
          <p:nvPr/>
        </p:nvSpPr>
        <p:spPr>
          <a:xfrm>
            <a:off x="548640" y="2377440"/>
            <a:ext cx="11064240" cy="822960"/>
          </a:xfrm>
          <a:prstGeom prst="roundRect">
            <a:avLst>
              <a:gd name="adj" fmla="val 6667"/>
            </a:avLst>
          </a:prstGeom>
          <a:solidFill>
            <a:srgbClr val="F7F2EE"/>
          </a:solidFill>
          <a:ln w="12700">
            <a:solidFill>
              <a:srgbClr val="FFFFFF"/>
            </a:solidFill>
            <a:prstDash val="solid"/>
          </a:ln>
        </p:spPr>
        <p:txBody>
          <a:bodyPr/>
          <a:lstStyle/>
          <a:p>
            <a:endParaRPr lang="en-GB"/>
          </a:p>
        </p:txBody>
      </p:sp>
      <p:sp>
        <p:nvSpPr>
          <p:cNvPr id="11" name="Text 9"/>
          <p:cNvSpPr/>
          <p:nvPr/>
        </p:nvSpPr>
        <p:spPr>
          <a:xfrm>
            <a:off x="731520" y="2377440"/>
            <a:ext cx="502920" cy="822960"/>
          </a:xfrm>
          <a:prstGeom prst="rect">
            <a:avLst/>
          </a:prstGeom>
          <a:noFill/>
          <a:ln/>
        </p:spPr>
        <p:txBody>
          <a:bodyPr wrap="square" lIns="0" tIns="0" rIns="0" bIns="0" rtlCol="0" anchor="ctr"/>
          <a:lstStyle/>
          <a:p>
            <a:pPr marL="0" indent="0">
              <a:buNone/>
            </a:pPr>
            <a:r>
              <a:rPr lang="en-US" sz="1600" b="1" dirty="0">
                <a:solidFill>
                  <a:srgbClr val="A26769"/>
                </a:solidFill>
                <a:latin typeface="Cambria" pitchFamily="34" charset="0"/>
                <a:ea typeface="Cambria" pitchFamily="34" charset="-122"/>
                <a:cs typeface="Cambria" pitchFamily="34" charset="-120"/>
              </a:rPr>
              <a:t>Q2</a:t>
            </a:r>
            <a:endParaRPr lang="en-US" sz="1600" dirty="0"/>
          </a:p>
        </p:txBody>
      </p:sp>
      <p:sp>
        <p:nvSpPr>
          <p:cNvPr id="12" name="Text 10"/>
          <p:cNvSpPr/>
          <p:nvPr/>
        </p:nvSpPr>
        <p:spPr>
          <a:xfrm>
            <a:off x="1325880" y="2377440"/>
            <a:ext cx="2880360" cy="8229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Region is the problem</a:t>
            </a:r>
            <a:endParaRPr lang="en-US" sz="1350" dirty="0"/>
          </a:p>
        </p:txBody>
      </p:sp>
      <p:sp>
        <p:nvSpPr>
          <p:cNvPr id="13" name="Text 11"/>
          <p:cNvSpPr/>
          <p:nvPr/>
        </p:nvSpPr>
        <p:spPr>
          <a:xfrm>
            <a:off x="4343400" y="2377440"/>
            <a:ext cx="7086600" cy="8229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West is 49.7% of revenue; South is 9.4%. A 5.3x gap driven almost entirely by order volume: 360 orders against 80.</a:t>
            </a:r>
            <a:endParaRPr lang="en-US" sz="1400" dirty="0"/>
          </a:p>
        </p:txBody>
      </p:sp>
      <p:sp>
        <p:nvSpPr>
          <p:cNvPr id="14" name="Shape 12"/>
          <p:cNvSpPr/>
          <p:nvPr/>
        </p:nvSpPr>
        <p:spPr>
          <a:xfrm>
            <a:off x="548640" y="3310128"/>
            <a:ext cx="11064240" cy="822960"/>
          </a:xfrm>
          <a:prstGeom prst="roundRect">
            <a:avLst>
              <a:gd name="adj" fmla="val 6667"/>
            </a:avLst>
          </a:prstGeom>
          <a:solidFill>
            <a:srgbClr val="ECE2D0"/>
          </a:solidFill>
          <a:ln w="12700">
            <a:solidFill>
              <a:srgbClr val="FFFFFF"/>
            </a:solidFill>
            <a:prstDash val="solid"/>
          </a:ln>
        </p:spPr>
        <p:txBody>
          <a:bodyPr/>
          <a:lstStyle/>
          <a:p>
            <a:endParaRPr lang="en-GB"/>
          </a:p>
        </p:txBody>
      </p:sp>
      <p:sp>
        <p:nvSpPr>
          <p:cNvPr id="15" name="Text 13"/>
          <p:cNvSpPr/>
          <p:nvPr/>
        </p:nvSpPr>
        <p:spPr>
          <a:xfrm>
            <a:off x="731520" y="3310128"/>
            <a:ext cx="502920" cy="822960"/>
          </a:xfrm>
          <a:prstGeom prst="rect">
            <a:avLst/>
          </a:prstGeom>
          <a:noFill/>
          <a:ln/>
        </p:spPr>
        <p:txBody>
          <a:bodyPr wrap="square" lIns="0" tIns="0" rIns="0" bIns="0" rtlCol="0" anchor="ctr"/>
          <a:lstStyle/>
          <a:p>
            <a:pPr marL="0" indent="0">
              <a:buNone/>
            </a:pPr>
            <a:r>
              <a:rPr lang="en-US" sz="1600" b="1" dirty="0">
                <a:solidFill>
                  <a:srgbClr val="A26769"/>
                </a:solidFill>
                <a:latin typeface="Cambria" pitchFamily="34" charset="0"/>
                <a:ea typeface="Cambria" pitchFamily="34" charset="-122"/>
                <a:cs typeface="Cambria" pitchFamily="34" charset="-120"/>
              </a:rPr>
              <a:t>Q3</a:t>
            </a:r>
            <a:endParaRPr lang="en-US" sz="1600" dirty="0"/>
          </a:p>
        </p:txBody>
      </p:sp>
      <p:sp>
        <p:nvSpPr>
          <p:cNvPr id="16" name="Text 14"/>
          <p:cNvSpPr/>
          <p:nvPr/>
        </p:nvSpPr>
        <p:spPr>
          <a:xfrm>
            <a:off x="1325880" y="3310128"/>
            <a:ext cx="2880360" cy="8229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No publisher is critical</a:t>
            </a:r>
            <a:endParaRPr lang="en-US" sz="1350" dirty="0"/>
          </a:p>
        </p:txBody>
      </p:sp>
      <p:sp>
        <p:nvSpPr>
          <p:cNvPr id="17" name="Text 15"/>
          <p:cNvSpPr/>
          <p:nvPr/>
        </p:nvSpPr>
        <p:spPr>
          <a:xfrm>
            <a:off x="4343400" y="3310128"/>
            <a:ext cx="7086600" cy="8229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60 partners, top 10 worth only 24%. Low supplier concentration risk, but also no leverage with any single publisher.</a:t>
            </a:r>
            <a:endParaRPr lang="en-US" sz="1400" dirty="0"/>
          </a:p>
        </p:txBody>
      </p:sp>
      <p:sp>
        <p:nvSpPr>
          <p:cNvPr id="18" name="Shape 16"/>
          <p:cNvSpPr/>
          <p:nvPr/>
        </p:nvSpPr>
        <p:spPr>
          <a:xfrm>
            <a:off x="548640" y="4242816"/>
            <a:ext cx="11064240" cy="822960"/>
          </a:xfrm>
          <a:prstGeom prst="roundRect">
            <a:avLst>
              <a:gd name="adj" fmla="val 6667"/>
            </a:avLst>
          </a:prstGeom>
          <a:solidFill>
            <a:srgbClr val="F7F2EE"/>
          </a:solidFill>
          <a:ln w="12700">
            <a:solidFill>
              <a:srgbClr val="FFFFFF"/>
            </a:solidFill>
            <a:prstDash val="solid"/>
          </a:ln>
        </p:spPr>
        <p:txBody>
          <a:bodyPr/>
          <a:lstStyle/>
          <a:p>
            <a:endParaRPr lang="en-GB"/>
          </a:p>
        </p:txBody>
      </p:sp>
      <p:sp>
        <p:nvSpPr>
          <p:cNvPr id="19" name="Text 17"/>
          <p:cNvSpPr/>
          <p:nvPr/>
        </p:nvSpPr>
        <p:spPr>
          <a:xfrm>
            <a:off x="731520" y="4242816"/>
            <a:ext cx="502920" cy="822960"/>
          </a:xfrm>
          <a:prstGeom prst="rect">
            <a:avLst/>
          </a:prstGeom>
          <a:noFill/>
          <a:ln/>
        </p:spPr>
        <p:txBody>
          <a:bodyPr wrap="square" lIns="0" tIns="0" rIns="0" bIns="0" rtlCol="0" anchor="ctr"/>
          <a:lstStyle/>
          <a:p>
            <a:pPr marL="0" indent="0">
              <a:buNone/>
            </a:pPr>
            <a:r>
              <a:rPr lang="en-US" sz="1600" b="1" dirty="0">
                <a:solidFill>
                  <a:srgbClr val="A26769"/>
                </a:solidFill>
                <a:latin typeface="Cambria" pitchFamily="34" charset="0"/>
                <a:ea typeface="Cambria" pitchFamily="34" charset="-122"/>
                <a:cs typeface="Cambria" pitchFamily="34" charset="-120"/>
              </a:rPr>
              <a:t>Q4</a:t>
            </a:r>
            <a:endParaRPr lang="en-US" sz="1600" dirty="0"/>
          </a:p>
        </p:txBody>
      </p:sp>
      <p:sp>
        <p:nvSpPr>
          <p:cNvPr id="20" name="Text 18"/>
          <p:cNvSpPr/>
          <p:nvPr/>
        </p:nvSpPr>
        <p:spPr>
          <a:xfrm>
            <a:off x="1325880" y="4242816"/>
            <a:ext cx="2880360" cy="8229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Sales held and finished strong</a:t>
            </a:r>
            <a:endParaRPr lang="en-US" sz="1350" dirty="0"/>
          </a:p>
        </p:txBody>
      </p:sp>
      <p:sp>
        <p:nvSpPr>
          <p:cNvPr id="21" name="Text 19"/>
          <p:cNvSpPr/>
          <p:nvPr/>
        </p:nvSpPr>
        <p:spPr>
          <a:xfrm>
            <a:off x="4343400" y="4242816"/>
            <a:ext cx="7086600" cy="8229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January $24,387, February $23,414, March $25,991. The best week of the quarter was the last full one, ending 24 March at $7,274.</a:t>
            </a:r>
            <a:endParaRPr lang="en-US" sz="1400" dirty="0"/>
          </a:p>
        </p:txBody>
      </p:sp>
      <p:sp>
        <p:nvSpPr>
          <p:cNvPr id="22" name="Shape 20"/>
          <p:cNvSpPr/>
          <p:nvPr/>
        </p:nvSpPr>
        <p:spPr>
          <a:xfrm>
            <a:off x="548640" y="5175504"/>
            <a:ext cx="11064240" cy="822960"/>
          </a:xfrm>
          <a:prstGeom prst="roundRect">
            <a:avLst>
              <a:gd name="adj" fmla="val 6667"/>
            </a:avLst>
          </a:prstGeom>
          <a:solidFill>
            <a:srgbClr val="ECE2D0"/>
          </a:solidFill>
          <a:ln w="12700">
            <a:solidFill>
              <a:srgbClr val="FFFFFF"/>
            </a:solidFill>
            <a:prstDash val="solid"/>
          </a:ln>
        </p:spPr>
        <p:txBody>
          <a:bodyPr/>
          <a:lstStyle/>
          <a:p>
            <a:endParaRPr lang="en-GB"/>
          </a:p>
        </p:txBody>
      </p:sp>
      <p:sp>
        <p:nvSpPr>
          <p:cNvPr id="23" name="Text 21"/>
          <p:cNvSpPr/>
          <p:nvPr/>
        </p:nvSpPr>
        <p:spPr>
          <a:xfrm>
            <a:off x="731520" y="5175504"/>
            <a:ext cx="502920" cy="822960"/>
          </a:xfrm>
          <a:prstGeom prst="rect">
            <a:avLst/>
          </a:prstGeom>
          <a:noFill/>
          <a:ln/>
        </p:spPr>
        <p:txBody>
          <a:bodyPr wrap="square" lIns="0" tIns="0" rIns="0" bIns="0" rtlCol="0" anchor="ctr"/>
          <a:lstStyle/>
          <a:p>
            <a:pPr marL="0" indent="0">
              <a:buNone/>
            </a:pPr>
            <a:r>
              <a:rPr lang="en-US" sz="1600" b="1" dirty="0">
                <a:solidFill>
                  <a:srgbClr val="A26769"/>
                </a:solidFill>
                <a:latin typeface="Cambria" pitchFamily="34" charset="0"/>
                <a:ea typeface="Cambria" pitchFamily="34" charset="-122"/>
                <a:cs typeface="Cambria" pitchFamily="34" charset="-120"/>
              </a:rPr>
              <a:t>Q5</a:t>
            </a:r>
            <a:endParaRPr lang="en-US" sz="1600" dirty="0"/>
          </a:p>
        </p:txBody>
      </p:sp>
      <p:sp>
        <p:nvSpPr>
          <p:cNvPr id="24" name="Text 22"/>
          <p:cNvSpPr/>
          <p:nvPr/>
        </p:nvSpPr>
        <p:spPr>
          <a:xfrm>
            <a:off x="1325880" y="5175504"/>
            <a:ext cx="2880360" cy="8229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Basket size drives revenue</a:t>
            </a:r>
            <a:endParaRPr lang="en-US" sz="1350" dirty="0"/>
          </a:p>
        </p:txBody>
      </p:sp>
      <p:sp>
        <p:nvSpPr>
          <p:cNvPr id="25" name="Text 23"/>
          <p:cNvSpPr/>
          <p:nvPr/>
        </p:nvSpPr>
        <p:spPr>
          <a:xfrm>
            <a:off x="4343400" y="5175504"/>
            <a:ext cx="7086600" cy="8229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Large orders of 5+ units are 61.7% of sales from 41% of transactions. </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17</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Recommendations for Q2 2024</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Suggested actions, ordered by expected return</a:t>
            </a:r>
            <a:endParaRPr lang="en-US" sz="1300" dirty="0"/>
          </a:p>
        </p:txBody>
      </p:sp>
      <p:sp>
        <p:nvSpPr>
          <p:cNvPr id="6" name="Shape 4"/>
          <p:cNvSpPr/>
          <p:nvPr/>
        </p:nvSpPr>
        <p:spPr>
          <a:xfrm>
            <a:off x="548640" y="1645920"/>
            <a:ext cx="384048" cy="384048"/>
          </a:xfrm>
          <a:prstGeom prst="ellipse">
            <a:avLst/>
          </a:prstGeom>
          <a:solidFill>
            <a:srgbClr val="6D2E46"/>
          </a:solidFill>
          <a:ln/>
        </p:spPr>
        <p:txBody>
          <a:bodyPr/>
          <a:lstStyle/>
          <a:p>
            <a:endParaRPr lang="en-GB"/>
          </a:p>
        </p:txBody>
      </p:sp>
      <p:sp>
        <p:nvSpPr>
          <p:cNvPr id="7" name="Text 5"/>
          <p:cNvSpPr/>
          <p:nvPr/>
        </p:nvSpPr>
        <p:spPr>
          <a:xfrm>
            <a:off x="54864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97280" y="1499616"/>
            <a:ext cx="3931920" cy="329184"/>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Grow order volume in South</a:t>
            </a:r>
            <a:endParaRPr lang="en-US" sz="1600" dirty="0"/>
          </a:p>
        </p:txBody>
      </p:sp>
      <p:sp>
        <p:nvSpPr>
          <p:cNvPr id="9" name="Text 7"/>
          <p:cNvSpPr/>
          <p:nvPr/>
        </p:nvSpPr>
        <p:spPr>
          <a:xfrm>
            <a:off x="1097280" y="1847088"/>
            <a:ext cx="3931920" cy="274320"/>
          </a:xfrm>
          <a:prstGeom prst="rect">
            <a:avLst/>
          </a:prstGeom>
          <a:noFill/>
          <a:ln/>
        </p:spPr>
        <p:txBody>
          <a:bodyPr wrap="square" lIns="0" tIns="0" rIns="0" bIns="0" rtlCol="0" anchor="ctr"/>
          <a:lstStyle/>
          <a:p>
            <a:pPr marL="0" indent="0">
              <a:buNone/>
            </a:pPr>
            <a:r>
              <a:rPr lang="en-US" sz="1050" i="1" dirty="0">
                <a:solidFill>
                  <a:srgbClr val="B58B3A"/>
                </a:solidFill>
                <a:latin typeface="Calibri" pitchFamily="34" charset="0"/>
                <a:ea typeface="Calibri" pitchFamily="34" charset="-122"/>
                <a:cs typeface="Calibri" pitchFamily="34" charset="-120"/>
              </a:rPr>
              <a:t>Highest impact</a:t>
            </a:r>
            <a:endParaRPr lang="en-US" sz="1050" dirty="0"/>
          </a:p>
        </p:txBody>
      </p:sp>
      <p:sp>
        <p:nvSpPr>
          <p:cNvPr id="10" name="Text 8"/>
          <p:cNvSpPr/>
          <p:nvPr/>
        </p:nvSpPr>
        <p:spPr>
          <a:xfrm>
            <a:off x="4005943" y="1499616"/>
            <a:ext cx="7606937" cy="77724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South's average order value is only 15% below West, but it takes a fifth of the orders. The deficit is reach. Direct Q2 marketing spend at customer acquisition in South rather than at basket-size promotions.</a:t>
            </a:r>
            <a:endParaRPr lang="en-US" sz="1600" dirty="0"/>
          </a:p>
        </p:txBody>
      </p:sp>
      <p:sp>
        <p:nvSpPr>
          <p:cNvPr id="11" name="Shape 9"/>
          <p:cNvSpPr/>
          <p:nvPr/>
        </p:nvSpPr>
        <p:spPr>
          <a:xfrm>
            <a:off x="548640" y="2596896"/>
            <a:ext cx="384048" cy="384048"/>
          </a:xfrm>
          <a:prstGeom prst="ellipse">
            <a:avLst/>
          </a:prstGeom>
          <a:solidFill>
            <a:srgbClr val="6D2E46"/>
          </a:solidFill>
          <a:ln/>
        </p:spPr>
        <p:txBody>
          <a:bodyPr/>
          <a:lstStyle/>
          <a:p>
            <a:endParaRPr lang="en-GB"/>
          </a:p>
        </p:txBody>
      </p:sp>
      <p:sp>
        <p:nvSpPr>
          <p:cNvPr id="12" name="Text 10"/>
          <p:cNvSpPr/>
          <p:nvPr/>
        </p:nvSpPr>
        <p:spPr>
          <a:xfrm>
            <a:off x="548640" y="25968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097280" y="2450592"/>
            <a:ext cx="3931920" cy="329184"/>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Protect and extend West</a:t>
            </a:r>
            <a:endParaRPr lang="en-US" sz="1600" dirty="0"/>
          </a:p>
        </p:txBody>
      </p:sp>
      <p:sp>
        <p:nvSpPr>
          <p:cNvPr id="14" name="Text 12"/>
          <p:cNvSpPr/>
          <p:nvPr/>
        </p:nvSpPr>
        <p:spPr>
          <a:xfrm>
            <a:off x="1097280" y="2798064"/>
            <a:ext cx="3931920" cy="274320"/>
          </a:xfrm>
          <a:prstGeom prst="rect">
            <a:avLst/>
          </a:prstGeom>
          <a:noFill/>
          <a:ln/>
        </p:spPr>
        <p:txBody>
          <a:bodyPr wrap="square" lIns="0" tIns="0" rIns="0" bIns="0" rtlCol="0" anchor="ctr"/>
          <a:lstStyle/>
          <a:p>
            <a:pPr marL="0" indent="0">
              <a:buNone/>
            </a:pPr>
            <a:r>
              <a:rPr lang="en-US" sz="1050" i="1" dirty="0">
                <a:solidFill>
                  <a:srgbClr val="B58B3A"/>
                </a:solidFill>
                <a:latin typeface="Calibri" pitchFamily="34" charset="0"/>
                <a:ea typeface="Calibri" pitchFamily="34" charset="-122"/>
                <a:cs typeface="Calibri" pitchFamily="34" charset="-120"/>
              </a:rPr>
              <a:t>Lowest risk</a:t>
            </a:r>
            <a:endParaRPr lang="en-US" sz="1050" dirty="0"/>
          </a:p>
        </p:txBody>
      </p:sp>
      <p:sp>
        <p:nvSpPr>
          <p:cNvPr id="15" name="Text 13"/>
          <p:cNvSpPr/>
          <p:nvPr/>
        </p:nvSpPr>
        <p:spPr>
          <a:xfrm>
            <a:off x="4005943" y="2450592"/>
            <a:ext cx="7606937" cy="77724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West is half the business and contributed steadily across the quarter. Ensure Q2 stock allocation matches this, particularly History and Sci-Fi, which are strongest there.</a:t>
            </a:r>
            <a:endParaRPr lang="en-US" sz="1600" dirty="0"/>
          </a:p>
        </p:txBody>
      </p:sp>
      <p:sp>
        <p:nvSpPr>
          <p:cNvPr id="16" name="Shape 14"/>
          <p:cNvSpPr/>
          <p:nvPr/>
        </p:nvSpPr>
        <p:spPr>
          <a:xfrm>
            <a:off x="548640" y="3547872"/>
            <a:ext cx="384048" cy="384048"/>
          </a:xfrm>
          <a:prstGeom prst="ellipse">
            <a:avLst/>
          </a:prstGeom>
          <a:solidFill>
            <a:srgbClr val="6D2E46"/>
          </a:solidFill>
          <a:ln/>
        </p:spPr>
        <p:txBody>
          <a:bodyPr/>
          <a:lstStyle/>
          <a:p>
            <a:endParaRPr lang="en-GB"/>
          </a:p>
        </p:txBody>
      </p:sp>
      <p:sp>
        <p:nvSpPr>
          <p:cNvPr id="17" name="Text 15"/>
          <p:cNvSpPr/>
          <p:nvPr/>
        </p:nvSpPr>
        <p:spPr>
          <a:xfrm>
            <a:off x="548640" y="35478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097280" y="3401568"/>
            <a:ext cx="3931920" cy="329184"/>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Incentivise larger baskets</a:t>
            </a:r>
            <a:endParaRPr lang="en-US" sz="1600" dirty="0"/>
          </a:p>
        </p:txBody>
      </p:sp>
      <p:sp>
        <p:nvSpPr>
          <p:cNvPr id="19" name="Text 17"/>
          <p:cNvSpPr/>
          <p:nvPr/>
        </p:nvSpPr>
        <p:spPr>
          <a:xfrm>
            <a:off x="1097280" y="3749040"/>
            <a:ext cx="3931920" cy="274320"/>
          </a:xfrm>
          <a:prstGeom prst="rect">
            <a:avLst/>
          </a:prstGeom>
          <a:noFill/>
          <a:ln/>
        </p:spPr>
        <p:txBody>
          <a:bodyPr wrap="square" lIns="0" tIns="0" rIns="0" bIns="0" rtlCol="0" anchor="ctr"/>
          <a:lstStyle/>
          <a:p>
            <a:pPr marL="0" indent="0">
              <a:buNone/>
            </a:pPr>
            <a:r>
              <a:rPr lang="en-US" sz="1050" i="1" dirty="0">
                <a:solidFill>
                  <a:srgbClr val="B58B3A"/>
                </a:solidFill>
                <a:latin typeface="Calibri" pitchFamily="34" charset="0"/>
                <a:ea typeface="Calibri" pitchFamily="34" charset="-122"/>
                <a:cs typeface="Calibri" pitchFamily="34" charset="-120"/>
              </a:rPr>
              <a:t>Quick win</a:t>
            </a:r>
            <a:endParaRPr lang="en-US" sz="1050" dirty="0"/>
          </a:p>
        </p:txBody>
      </p:sp>
      <p:sp>
        <p:nvSpPr>
          <p:cNvPr id="20" name="Text 18"/>
          <p:cNvSpPr/>
          <p:nvPr/>
        </p:nvSpPr>
        <p:spPr>
          <a:xfrm>
            <a:off x="4005943" y="3401568"/>
            <a:ext cx="7606937" cy="77724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Large orders already produce 61.7% of revenue from 41% of transactions. Multi-buy offers targeted at the 1–2 unit segment address the weakest 11.6% of revenue.</a:t>
            </a:r>
            <a:endParaRPr lang="en-US" sz="1600" dirty="0"/>
          </a:p>
        </p:txBody>
      </p:sp>
      <p:sp>
        <p:nvSpPr>
          <p:cNvPr id="21" name="Shape 19"/>
          <p:cNvSpPr/>
          <p:nvPr/>
        </p:nvSpPr>
        <p:spPr>
          <a:xfrm>
            <a:off x="548640" y="4498848"/>
            <a:ext cx="384048" cy="384048"/>
          </a:xfrm>
          <a:prstGeom prst="ellipse">
            <a:avLst/>
          </a:prstGeom>
          <a:solidFill>
            <a:srgbClr val="6D2E46"/>
          </a:solidFill>
          <a:ln/>
        </p:spPr>
        <p:txBody>
          <a:bodyPr/>
          <a:lstStyle/>
          <a:p>
            <a:endParaRPr lang="en-GB"/>
          </a:p>
        </p:txBody>
      </p:sp>
      <p:sp>
        <p:nvSpPr>
          <p:cNvPr id="22" name="Text 20"/>
          <p:cNvSpPr/>
          <p:nvPr/>
        </p:nvSpPr>
        <p:spPr>
          <a:xfrm>
            <a:off x="548640" y="44988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097280" y="4352544"/>
            <a:ext cx="3931920" cy="329184"/>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Review the bottom publishers</a:t>
            </a:r>
            <a:endParaRPr lang="en-US" sz="1600" dirty="0"/>
          </a:p>
        </p:txBody>
      </p:sp>
      <p:sp>
        <p:nvSpPr>
          <p:cNvPr id="24" name="Text 22"/>
          <p:cNvSpPr/>
          <p:nvPr/>
        </p:nvSpPr>
        <p:spPr>
          <a:xfrm>
            <a:off x="1097280" y="4700016"/>
            <a:ext cx="3931920" cy="274320"/>
          </a:xfrm>
          <a:prstGeom prst="rect">
            <a:avLst/>
          </a:prstGeom>
          <a:noFill/>
          <a:ln/>
        </p:spPr>
        <p:txBody>
          <a:bodyPr wrap="square" lIns="0" tIns="0" rIns="0" bIns="0" rtlCol="0" anchor="ctr"/>
          <a:lstStyle/>
          <a:p>
            <a:pPr marL="0" indent="0">
              <a:buNone/>
            </a:pPr>
            <a:r>
              <a:rPr lang="en-US" sz="1050" i="1" dirty="0">
                <a:solidFill>
                  <a:srgbClr val="B58B3A"/>
                </a:solidFill>
                <a:latin typeface="Calibri" pitchFamily="34" charset="0"/>
                <a:ea typeface="Calibri" pitchFamily="34" charset="-122"/>
                <a:cs typeface="Calibri" pitchFamily="34" charset="-120"/>
              </a:rPr>
              <a:t>Medium term</a:t>
            </a:r>
            <a:endParaRPr lang="en-US" sz="1050" dirty="0"/>
          </a:p>
        </p:txBody>
      </p:sp>
      <p:sp>
        <p:nvSpPr>
          <p:cNvPr id="25" name="Text 23"/>
          <p:cNvSpPr/>
          <p:nvPr/>
        </p:nvSpPr>
        <p:spPr>
          <a:xfrm>
            <a:off x="4005943" y="4352544"/>
            <a:ext cx="7606937" cy="77724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The weakest partners contribute under $400 each for the quarter. Consolidating purchasing toward stronger performers could improve terms without meaningful revenue risk.</a:t>
            </a:r>
            <a:endParaRPr lang="en-US" sz="1600" dirty="0"/>
          </a:p>
        </p:txBody>
      </p:sp>
      <p:sp>
        <p:nvSpPr>
          <p:cNvPr id="26" name="Shape 24"/>
          <p:cNvSpPr/>
          <p:nvPr/>
        </p:nvSpPr>
        <p:spPr>
          <a:xfrm>
            <a:off x="548640" y="5449824"/>
            <a:ext cx="384048" cy="384048"/>
          </a:xfrm>
          <a:prstGeom prst="ellipse">
            <a:avLst/>
          </a:prstGeom>
          <a:solidFill>
            <a:srgbClr val="6D2E46"/>
          </a:solidFill>
          <a:ln/>
        </p:spPr>
        <p:txBody>
          <a:bodyPr/>
          <a:lstStyle/>
          <a:p>
            <a:endParaRPr lang="en-GB"/>
          </a:p>
        </p:txBody>
      </p:sp>
      <p:sp>
        <p:nvSpPr>
          <p:cNvPr id="27" name="Text 25"/>
          <p:cNvSpPr/>
          <p:nvPr/>
        </p:nvSpPr>
        <p:spPr>
          <a:xfrm>
            <a:off x="548640" y="54498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097280" y="5303520"/>
            <a:ext cx="3931920" cy="329184"/>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Investigate West's advantage</a:t>
            </a:r>
            <a:endParaRPr lang="en-US" sz="1600" dirty="0"/>
          </a:p>
        </p:txBody>
      </p:sp>
      <p:sp>
        <p:nvSpPr>
          <p:cNvPr id="29" name="Text 27"/>
          <p:cNvSpPr/>
          <p:nvPr/>
        </p:nvSpPr>
        <p:spPr>
          <a:xfrm>
            <a:off x="1097280" y="5650992"/>
            <a:ext cx="3931920" cy="274320"/>
          </a:xfrm>
          <a:prstGeom prst="rect">
            <a:avLst/>
          </a:prstGeom>
          <a:noFill/>
          <a:ln/>
        </p:spPr>
        <p:txBody>
          <a:bodyPr wrap="square" lIns="0" tIns="0" rIns="0" bIns="0" rtlCol="0" anchor="ctr"/>
          <a:lstStyle/>
          <a:p>
            <a:pPr marL="0" indent="0">
              <a:buNone/>
            </a:pPr>
            <a:r>
              <a:rPr lang="en-US" sz="1050" i="1" dirty="0">
                <a:solidFill>
                  <a:srgbClr val="B58B3A"/>
                </a:solidFill>
                <a:latin typeface="Calibri" pitchFamily="34" charset="0"/>
                <a:ea typeface="Calibri" pitchFamily="34" charset="-122"/>
                <a:cs typeface="Calibri" pitchFamily="34" charset="-120"/>
              </a:rPr>
              <a:t>Further analysis</a:t>
            </a:r>
            <a:endParaRPr lang="en-US" sz="1050" dirty="0"/>
          </a:p>
        </p:txBody>
      </p:sp>
      <p:sp>
        <p:nvSpPr>
          <p:cNvPr id="30" name="Text 28"/>
          <p:cNvSpPr/>
          <p:nvPr/>
        </p:nvSpPr>
        <p:spPr>
          <a:xfrm>
            <a:off x="4005943" y="5303520"/>
            <a:ext cx="7606937" cy="77724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West outperforms in every genre, which suggests a structural cause such as store footprint, distribution or local marketing. Identifying it would make it repeatable elsewhere.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475488" cy="475488"/>
          </a:xfrm>
          <a:prstGeom prst="ellipse">
            <a:avLst/>
          </a:prstGeom>
          <a:solidFill>
            <a:srgbClr val="6D2E46"/>
          </a:solidFill>
          <a:ln/>
        </p:spPr>
        <p:txBody>
          <a:bodyPr/>
          <a:lstStyle/>
          <a:p>
            <a:endParaRPr lang="en-GB"/>
          </a:p>
        </p:txBody>
      </p:sp>
      <p:sp>
        <p:nvSpPr>
          <p:cNvPr id="3" name="Text 1"/>
          <p:cNvSpPr/>
          <p:nvPr/>
        </p:nvSpPr>
        <p:spPr>
          <a:xfrm>
            <a:off x="548640" y="4114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18</a:t>
            </a:r>
            <a:endParaRPr lang="en-US" sz="1700" dirty="0"/>
          </a:p>
        </p:txBody>
      </p:sp>
      <p:sp>
        <p:nvSpPr>
          <p:cNvPr id="4" name="Text 2"/>
          <p:cNvSpPr/>
          <p:nvPr/>
        </p:nvSpPr>
        <p:spPr>
          <a:xfrm>
            <a:off x="1207008" y="365760"/>
            <a:ext cx="10405872" cy="566928"/>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Limitations of the Analysis</a:t>
            </a:r>
            <a:endParaRPr lang="en-US" sz="3200" dirty="0"/>
          </a:p>
        </p:txBody>
      </p:sp>
      <p:sp>
        <p:nvSpPr>
          <p:cNvPr id="5" name="Text 3"/>
          <p:cNvSpPr/>
          <p:nvPr/>
        </p:nvSpPr>
        <p:spPr>
          <a:xfrm>
            <a:off x="1207008" y="932688"/>
            <a:ext cx="10405872" cy="292608"/>
          </a:xfrm>
          <a:prstGeom prst="rect">
            <a:avLst/>
          </a:prstGeom>
          <a:noFill/>
          <a:ln/>
        </p:spPr>
        <p:txBody>
          <a:bodyPr wrap="square" lIns="0" tIns="0" rIns="0" bIns="0"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Constraints on the data, and how they affect the conclusions above</a:t>
            </a:r>
            <a:endParaRPr lang="en-US" sz="1300" dirty="0"/>
          </a:p>
        </p:txBody>
      </p:sp>
      <p:sp>
        <p:nvSpPr>
          <p:cNvPr id="6" name="Shape 4"/>
          <p:cNvSpPr/>
          <p:nvPr/>
        </p:nvSpPr>
        <p:spPr>
          <a:xfrm>
            <a:off x="548640" y="1444752"/>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7" name="Text 5"/>
          <p:cNvSpPr/>
          <p:nvPr/>
        </p:nvSpPr>
        <p:spPr>
          <a:xfrm>
            <a:off x="731520" y="1554480"/>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Revenue only, no profitability</a:t>
            </a:r>
            <a:endParaRPr lang="en-US" sz="1600" dirty="0"/>
          </a:p>
        </p:txBody>
      </p:sp>
      <p:sp>
        <p:nvSpPr>
          <p:cNvPr id="8" name="Text 6"/>
          <p:cNvSpPr/>
          <p:nvPr/>
        </p:nvSpPr>
        <p:spPr>
          <a:xfrm>
            <a:off x="731520" y="1865376"/>
            <a:ext cx="52578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The Q1 files carry Sales but no Cost or Profit. Those fields exist only in Bookstore_Sales.csv, which covers a different period and grain and cannot be safely joined. Every recommendation is therefore made on revenue, not margin. A genre with high sales could still be unprofitable.</a:t>
            </a:r>
            <a:endParaRPr lang="en-US" sz="1400" dirty="0"/>
          </a:p>
        </p:txBody>
      </p:sp>
      <p:sp>
        <p:nvSpPr>
          <p:cNvPr id="9" name="Shape 7"/>
          <p:cNvSpPr/>
          <p:nvPr/>
        </p:nvSpPr>
        <p:spPr>
          <a:xfrm>
            <a:off x="6172200" y="1444752"/>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10" name="Text 8"/>
          <p:cNvSpPr/>
          <p:nvPr/>
        </p:nvSpPr>
        <p:spPr>
          <a:xfrm>
            <a:off x="6355080" y="1554480"/>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Incomplete month-ends</a:t>
            </a:r>
            <a:endParaRPr lang="en-US" sz="1600" dirty="0"/>
          </a:p>
        </p:txBody>
      </p:sp>
      <p:sp>
        <p:nvSpPr>
          <p:cNvPr id="11" name="Text 9"/>
          <p:cNvSpPr/>
          <p:nvPr/>
        </p:nvSpPr>
        <p:spPr>
          <a:xfrm>
            <a:off x="6355080" y="1865376"/>
            <a:ext cx="50292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Each monthly file stops on the 28th, so roughly 3 days per month are missing. Q1 totals are understated by an unknown amount and the final week of any trend line reads artificially low.</a:t>
            </a:r>
            <a:endParaRPr lang="en-US" sz="1400" dirty="0"/>
          </a:p>
        </p:txBody>
      </p:sp>
      <p:sp>
        <p:nvSpPr>
          <p:cNvPr id="12" name="Shape 10"/>
          <p:cNvSpPr/>
          <p:nvPr/>
        </p:nvSpPr>
        <p:spPr>
          <a:xfrm>
            <a:off x="548640" y="3072384"/>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13" name="Text 11"/>
          <p:cNvSpPr/>
          <p:nvPr/>
        </p:nvSpPr>
        <p:spPr>
          <a:xfrm>
            <a:off x="731520" y="3182112"/>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Single quarter, no baseline</a:t>
            </a:r>
            <a:endParaRPr lang="en-US" sz="1600" dirty="0"/>
          </a:p>
        </p:txBody>
      </p:sp>
      <p:sp>
        <p:nvSpPr>
          <p:cNvPr id="14" name="Text 12"/>
          <p:cNvSpPr/>
          <p:nvPr/>
        </p:nvSpPr>
        <p:spPr>
          <a:xfrm>
            <a:off x="731520" y="3493008"/>
            <a:ext cx="50292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With only Q1 2024 and no prior-year comparison, it is impossible to say whether West's dominance is normal or new, or whether South is declining or has always been small.</a:t>
            </a:r>
            <a:endParaRPr lang="en-US" sz="1400" dirty="0"/>
          </a:p>
        </p:txBody>
      </p:sp>
      <p:sp>
        <p:nvSpPr>
          <p:cNvPr id="15" name="Shape 13"/>
          <p:cNvSpPr/>
          <p:nvPr/>
        </p:nvSpPr>
        <p:spPr>
          <a:xfrm>
            <a:off x="6172200" y="3072384"/>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16" name="Text 14"/>
          <p:cNvSpPr/>
          <p:nvPr/>
        </p:nvSpPr>
        <p:spPr>
          <a:xfrm>
            <a:off x="6355080" y="3182112"/>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No customer dimension</a:t>
            </a:r>
            <a:endParaRPr lang="en-US" sz="1600" dirty="0"/>
          </a:p>
        </p:txBody>
      </p:sp>
      <p:sp>
        <p:nvSpPr>
          <p:cNvPr id="17" name="Text 15"/>
          <p:cNvSpPr/>
          <p:nvPr/>
        </p:nvSpPr>
        <p:spPr>
          <a:xfrm>
            <a:off x="6355080" y="3493008"/>
            <a:ext cx="50292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There is no customer identifier, so repeat purchase rate, customer lifetime value and new-versus-returning splits cannot be measured. 'Grow order volume' cannot be separated into acquisition versus frequency.</a:t>
            </a:r>
            <a:endParaRPr lang="en-US" sz="1400" dirty="0"/>
          </a:p>
        </p:txBody>
      </p:sp>
      <p:sp>
        <p:nvSpPr>
          <p:cNvPr id="18" name="Shape 16"/>
          <p:cNvSpPr/>
          <p:nvPr/>
        </p:nvSpPr>
        <p:spPr>
          <a:xfrm>
            <a:off x="548640" y="4700016"/>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19" name="Text 17"/>
          <p:cNvSpPr/>
          <p:nvPr/>
        </p:nvSpPr>
        <p:spPr>
          <a:xfrm>
            <a:off x="731520" y="4809744"/>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Anonymised publishers</a:t>
            </a:r>
            <a:endParaRPr lang="en-US" sz="1600" dirty="0"/>
          </a:p>
        </p:txBody>
      </p:sp>
      <p:sp>
        <p:nvSpPr>
          <p:cNvPr id="20" name="Text 18"/>
          <p:cNvSpPr/>
          <p:nvPr/>
        </p:nvSpPr>
        <p:spPr>
          <a:xfrm>
            <a:off x="731520" y="5120640"/>
            <a:ext cx="50292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Publisher names are placeholders, so the ranking cannot be tied to real commercial terms, genre specialisms or contract status.</a:t>
            </a:r>
            <a:endParaRPr lang="en-US" sz="1400" dirty="0"/>
          </a:p>
        </p:txBody>
      </p:sp>
      <p:sp>
        <p:nvSpPr>
          <p:cNvPr id="21" name="Shape 19"/>
          <p:cNvSpPr/>
          <p:nvPr/>
        </p:nvSpPr>
        <p:spPr>
          <a:xfrm>
            <a:off x="6172200" y="4700016"/>
            <a:ext cx="5394960" cy="1444752"/>
          </a:xfrm>
          <a:prstGeom prst="roundRect">
            <a:avLst>
              <a:gd name="adj" fmla="val 4430"/>
            </a:avLst>
          </a:prstGeom>
          <a:solidFill>
            <a:srgbClr val="ECE2D0"/>
          </a:solidFill>
          <a:ln w="12700">
            <a:solidFill>
              <a:srgbClr val="ECE2D0"/>
            </a:solidFill>
            <a:prstDash val="solid"/>
          </a:ln>
        </p:spPr>
        <p:txBody>
          <a:bodyPr/>
          <a:lstStyle/>
          <a:p>
            <a:endParaRPr lang="en-GB" sz="2400"/>
          </a:p>
        </p:txBody>
      </p:sp>
      <p:sp>
        <p:nvSpPr>
          <p:cNvPr id="22" name="Text 20"/>
          <p:cNvSpPr/>
          <p:nvPr/>
        </p:nvSpPr>
        <p:spPr>
          <a:xfrm>
            <a:off x="6355080" y="4809744"/>
            <a:ext cx="5029200" cy="292608"/>
          </a:xfrm>
          <a:prstGeom prst="rect">
            <a:avLst/>
          </a:prstGeom>
          <a:noFill/>
          <a:ln/>
        </p:spPr>
        <p:txBody>
          <a:bodyPr wrap="square" lIns="0" tIns="0" rIns="0" bIns="0" rtlCol="0" anchor="ctr"/>
          <a:lstStyle/>
          <a:p>
            <a:pPr marL="0" indent="0">
              <a:buNone/>
            </a:pPr>
            <a:r>
              <a:rPr lang="en-US" sz="1600" b="1" dirty="0">
                <a:solidFill>
                  <a:srgbClr val="6D2E46"/>
                </a:solidFill>
                <a:latin typeface="Calibri" pitchFamily="34" charset="0"/>
                <a:ea typeface="Calibri" pitchFamily="34" charset="-122"/>
                <a:cs typeface="Calibri" pitchFamily="34" charset="-120"/>
              </a:rPr>
              <a:t>Duplicate order identifier</a:t>
            </a:r>
            <a:endParaRPr lang="en-US" sz="1600" dirty="0"/>
          </a:p>
        </p:txBody>
      </p:sp>
      <p:sp>
        <p:nvSpPr>
          <p:cNvPr id="23" name="Text 21"/>
          <p:cNvSpPr/>
          <p:nvPr/>
        </p:nvSpPr>
        <p:spPr>
          <a:xfrm>
            <a:off x="6355080" y="5120640"/>
            <a:ext cx="5029200" cy="932688"/>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One OrderID appears twice on different transactions. Any distinct-count measure is understated by one, and Avg. Sales per Order is marginally overstated as a result.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6D2E46"/>
        </a:solidFill>
        <a:effectLst/>
      </p:bgPr>
    </p:bg>
    <p:spTree>
      <p:nvGrpSpPr>
        <p:cNvPr id="1" name=""/>
        <p:cNvGrpSpPr/>
        <p:nvPr/>
      </p:nvGrpSpPr>
      <p:grpSpPr>
        <a:xfrm>
          <a:off x="0" y="0"/>
          <a:ext cx="0" cy="0"/>
          <a:chOff x="0" y="0"/>
          <a:chExt cx="0" cy="0"/>
        </a:xfrm>
      </p:grpSpPr>
      <p:sp>
        <p:nvSpPr>
          <p:cNvPr id="2" name="Text 0"/>
          <p:cNvSpPr/>
          <p:nvPr/>
        </p:nvSpPr>
        <p:spPr>
          <a:xfrm>
            <a:off x="548640" y="1417320"/>
            <a:ext cx="11064240" cy="457200"/>
          </a:xfrm>
          <a:prstGeom prst="rect">
            <a:avLst/>
          </a:prstGeom>
          <a:noFill/>
          <a:ln/>
        </p:spPr>
        <p:txBody>
          <a:bodyPr wrap="square" lIns="0" tIns="0" rIns="0" bIns="0" rtlCol="0" anchor="ctr"/>
          <a:lstStyle/>
          <a:p>
            <a:pPr marL="0" indent="0">
              <a:buNone/>
            </a:pPr>
            <a:r>
              <a:rPr lang="en-US" sz="1700" dirty="0">
                <a:solidFill>
                  <a:srgbClr val="ECE2D0"/>
                </a:solidFill>
                <a:latin typeface="Calibri" pitchFamily="34" charset="0"/>
                <a:ea typeface="Calibri" pitchFamily="34" charset="-122"/>
                <a:cs typeface="Calibri" pitchFamily="34" charset="-120"/>
              </a:rPr>
              <a:t>The one thing to take away</a:t>
            </a:r>
            <a:endParaRPr lang="en-US" sz="1700" dirty="0"/>
          </a:p>
        </p:txBody>
      </p:sp>
      <p:sp>
        <p:nvSpPr>
          <p:cNvPr id="3" name="Text 1"/>
          <p:cNvSpPr/>
          <p:nvPr/>
        </p:nvSpPr>
        <p:spPr>
          <a:xfrm>
            <a:off x="548640" y="1965960"/>
            <a:ext cx="11064240" cy="1554480"/>
          </a:xfrm>
          <a:prstGeom prst="rect">
            <a:avLst/>
          </a:prstGeom>
          <a:noFill/>
          <a:ln/>
        </p:spPr>
        <p:txBody>
          <a:bodyPr wrap="square" lIns="0" tIns="0" rIns="0" bIns="0" rtlCol="0" anchor="ctr"/>
          <a:lstStyle/>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Q1 is a distribution problem,</a:t>
            </a:r>
            <a:endParaRPr lang="en-US" sz="3800" dirty="0"/>
          </a:p>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not a product problem.</a:t>
            </a:r>
            <a:endParaRPr lang="en-US" sz="3800" dirty="0"/>
          </a:p>
        </p:txBody>
      </p:sp>
      <p:sp>
        <p:nvSpPr>
          <p:cNvPr id="4" name="Text 2"/>
          <p:cNvSpPr/>
          <p:nvPr/>
        </p:nvSpPr>
        <p:spPr>
          <a:xfrm>
            <a:off x="548640" y="3703320"/>
            <a:ext cx="8778240" cy="1188720"/>
          </a:xfrm>
          <a:prstGeom prst="rect">
            <a:avLst/>
          </a:prstGeom>
          <a:noFill/>
          <a:ln/>
        </p:spPr>
        <p:txBody>
          <a:bodyPr wrap="square" lIns="0" tIns="0" rIns="0" bIns="0" rtlCol="0" anchor="ctr"/>
          <a:lstStyle/>
          <a:p>
            <a:pPr marL="0" indent="0">
              <a:buNone/>
            </a:pPr>
            <a:r>
              <a:rPr lang="en-US" sz="1500" dirty="0">
                <a:solidFill>
                  <a:srgbClr val="ECE2D0"/>
                </a:solidFill>
                <a:latin typeface="Calibri" pitchFamily="34" charset="0"/>
                <a:ea typeface="Calibri" pitchFamily="34" charset="-122"/>
                <a:cs typeface="Calibri" pitchFamily="34" charset="-120"/>
              </a:rPr>
              <a:t>Every genre sells, every publisher contributes, and the quarter finished on its strongest week. The single largest opportunity in Q2 is closing the 5.3x gap between West and South, and that is a question of reach, not of what is on the shelves.</a:t>
            </a:r>
            <a:endParaRPr lang="en-US" sz="1500" dirty="0"/>
          </a:p>
        </p:txBody>
      </p:sp>
      <p:sp>
        <p:nvSpPr>
          <p:cNvPr id="5" name="Shape 3"/>
          <p:cNvSpPr/>
          <p:nvPr/>
        </p:nvSpPr>
        <p:spPr>
          <a:xfrm>
            <a:off x="548640" y="5074920"/>
            <a:ext cx="3474720" cy="1051560"/>
          </a:xfrm>
          <a:prstGeom prst="roundRect">
            <a:avLst>
              <a:gd name="adj" fmla="val 6957"/>
            </a:avLst>
          </a:prstGeom>
          <a:solidFill>
            <a:srgbClr val="5A2439"/>
          </a:solidFill>
          <a:ln w="12700">
            <a:solidFill>
              <a:srgbClr val="5A2439"/>
            </a:solidFill>
            <a:prstDash val="solid"/>
          </a:ln>
        </p:spPr>
        <p:txBody>
          <a:bodyPr/>
          <a:lstStyle/>
          <a:p>
            <a:endParaRPr lang="en-GB"/>
          </a:p>
        </p:txBody>
      </p:sp>
      <p:sp>
        <p:nvSpPr>
          <p:cNvPr id="6" name="Text 4"/>
          <p:cNvSpPr/>
          <p:nvPr/>
        </p:nvSpPr>
        <p:spPr>
          <a:xfrm>
            <a:off x="685800" y="5193792"/>
            <a:ext cx="32004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$73,792.73</a:t>
            </a:r>
            <a:endParaRPr lang="en-US" sz="2400" dirty="0"/>
          </a:p>
        </p:txBody>
      </p:sp>
      <p:sp>
        <p:nvSpPr>
          <p:cNvPr id="7" name="Text 5"/>
          <p:cNvSpPr/>
          <p:nvPr/>
        </p:nvSpPr>
        <p:spPr>
          <a:xfrm>
            <a:off x="685800" y="5687568"/>
            <a:ext cx="3200400" cy="320040"/>
          </a:xfrm>
          <a:prstGeom prst="rect">
            <a:avLst/>
          </a:prstGeom>
          <a:noFill/>
          <a:ln/>
        </p:spPr>
        <p:txBody>
          <a:bodyPr wrap="square" lIns="0" tIns="0" rIns="0" bIns="0" rtlCol="0" anchor="ctr"/>
          <a:lstStyle/>
          <a:p>
            <a:pPr marL="0" indent="0" algn="ctr">
              <a:buNone/>
            </a:pPr>
            <a:r>
              <a:rPr lang="en-US" sz="1200" dirty="0">
                <a:solidFill>
                  <a:srgbClr val="ECE2D0"/>
                </a:solidFill>
                <a:latin typeface="Calibri" pitchFamily="34" charset="0"/>
                <a:ea typeface="Calibri" pitchFamily="34" charset="-122"/>
                <a:cs typeface="Calibri" pitchFamily="34" charset="-120"/>
              </a:rPr>
              <a:t>Q1 sales</a:t>
            </a:r>
            <a:endParaRPr lang="en-US" sz="1200" dirty="0"/>
          </a:p>
        </p:txBody>
      </p:sp>
      <p:sp>
        <p:nvSpPr>
          <p:cNvPr id="8" name="Shape 6"/>
          <p:cNvSpPr/>
          <p:nvPr/>
        </p:nvSpPr>
        <p:spPr>
          <a:xfrm>
            <a:off x="4251960" y="5074920"/>
            <a:ext cx="3474720" cy="1051560"/>
          </a:xfrm>
          <a:prstGeom prst="roundRect">
            <a:avLst>
              <a:gd name="adj" fmla="val 6957"/>
            </a:avLst>
          </a:prstGeom>
          <a:solidFill>
            <a:srgbClr val="5A2439"/>
          </a:solidFill>
          <a:ln w="12700">
            <a:solidFill>
              <a:srgbClr val="5A2439"/>
            </a:solidFill>
            <a:prstDash val="solid"/>
          </a:ln>
        </p:spPr>
        <p:txBody>
          <a:bodyPr/>
          <a:lstStyle/>
          <a:p>
            <a:endParaRPr lang="en-GB"/>
          </a:p>
        </p:txBody>
      </p:sp>
      <p:sp>
        <p:nvSpPr>
          <p:cNvPr id="9" name="Text 7"/>
          <p:cNvSpPr/>
          <p:nvPr/>
        </p:nvSpPr>
        <p:spPr>
          <a:xfrm>
            <a:off x="4389120" y="5193792"/>
            <a:ext cx="32004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49.7%</a:t>
            </a:r>
            <a:endParaRPr lang="en-US" sz="2400" dirty="0"/>
          </a:p>
        </p:txBody>
      </p:sp>
      <p:sp>
        <p:nvSpPr>
          <p:cNvPr id="10" name="Text 8"/>
          <p:cNvSpPr/>
          <p:nvPr/>
        </p:nvSpPr>
        <p:spPr>
          <a:xfrm>
            <a:off x="4389120" y="5687568"/>
            <a:ext cx="3200400" cy="320040"/>
          </a:xfrm>
          <a:prstGeom prst="rect">
            <a:avLst/>
          </a:prstGeom>
          <a:noFill/>
          <a:ln/>
        </p:spPr>
        <p:txBody>
          <a:bodyPr wrap="square" lIns="0" tIns="0" rIns="0" bIns="0" rtlCol="0" anchor="ctr"/>
          <a:lstStyle/>
          <a:p>
            <a:pPr marL="0" indent="0" algn="ctr">
              <a:buNone/>
            </a:pPr>
            <a:r>
              <a:rPr lang="en-US" sz="1200" dirty="0">
                <a:solidFill>
                  <a:srgbClr val="ECE2D0"/>
                </a:solidFill>
                <a:latin typeface="Calibri" pitchFamily="34" charset="0"/>
                <a:ea typeface="Calibri" pitchFamily="34" charset="-122"/>
                <a:cs typeface="Calibri" pitchFamily="34" charset="-120"/>
              </a:rPr>
              <a:t>from West</a:t>
            </a:r>
            <a:endParaRPr lang="en-US" sz="1200" dirty="0"/>
          </a:p>
        </p:txBody>
      </p:sp>
      <p:sp>
        <p:nvSpPr>
          <p:cNvPr id="11" name="Shape 9"/>
          <p:cNvSpPr/>
          <p:nvPr/>
        </p:nvSpPr>
        <p:spPr>
          <a:xfrm>
            <a:off x="7955280" y="5074920"/>
            <a:ext cx="3474720" cy="1051560"/>
          </a:xfrm>
          <a:prstGeom prst="roundRect">
            <a:avLst>
              <a:gd name="adj" fmla="val 6957"/>
            </a:avLst>
          </a:prstGeom>
          <a:solidFill>
            <a:srgbClr val="5A2439"/>
          </a:solidFill>
          <a:ln w="12700">
            <a:solidFill>
              <a:srgbClr val="5A2439"/>
            </a:solidFill>
            <a:prstDash val="solid"/>
          </a:ln>
        </p:spPr>
        <p:txBody>
          <a:bodyPr/>
          <a:lstStyle/>
          <a:p>
            <a:endParaRPr lang="en-GB"/>
          </a:p>
        </p:txBody>
      </p:sp>
      <p:sp>
        <p:nvSpPr>
          <p:cNvPr id="12" name="Text 10"/>
          <p:cNvSpPr/>
          <p:nvPr/>
        </p:nvSpPr>
        <p:spPr>
          <a:xfrm>
            <a:off x="8092440" y="5193792"/>
            <a:ext cx="32004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61.7%</a:t>
            </a:r>
            <a:endParaRPr lang="en-US" sz="2400" dirty="0"/>
          </a:p>
        </p:txBody>
      </p:sp>
      <p:sp>
        <p:nvSpPr>
          <p:cNvPr id="13" name="Text 11"/>
          <p:cNvSpPr/>
          <p:nvPr/>
        </p:nvSpPr>
        <p:spPr>
          <a:xfrm>
            <a:off x="8092440" y="5687568"/>
            <a:ext cx="3200400" cy="320040"/>
          </a:xfrm>
          <a:prstGeom prst="rect">
            <a:avLst/>
          </a:prstGeom>
          <a:noFill/>
          <a:ln/>
        </p:spPr>
        <p:txBody>
          <a:bodyPr wrap="square" lIns="0" tIns="0" rIns="0" bIns="0" rtlCol="0" anchor="ctr"/>
          <a:lstStyle/>
          <a:p>
            <a:pPr marL="0" indent="0" algn="ctr">
              <a:buNone/>
            </a:pPr>
            <a:r>
              <a:rPr lang="en-US" sz="1200" dirty="0">
                <a:solidFill>
                  <a:srgbClr val="ECE2D0"/>
                </a:solidFill>
                <a:latin typeface="Calibri" pitchFamily="34" charset="0"/>
                <a:ea typeface="Calibri" pitchFamily="34" charset="-122"/>
                <a:cs typeface="Calibri" pitchFamily="34" charset="-120"/>
              </a:rPr>
              <a:t>from large orders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1483</TotalTime>
  <Words>3079</Words>
  <Application>Microsoft Office PowerPoint</Application>
  <PresentationFormat>Widescreen</PresentationFormat>
  <Paragraphs>371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 2024 Bookstore Performance</dc:title>
  <dc:subject>PptxGenJS Presentation</dc:subject>
  <dc:creator>Janni Sambrook</dc:creator>
  <cp:lastModifiedBy>january sambrook</cp:lastModifiedBy>
  <cp:revision>5</cp:revision>
  <dcterms:created xsi:type="dcterms:W3CDTF">2026-08-13T17:38:47Z</dcterms:created>
  <dcterms:modified xsi:type="dcterms:W3CDTF">2026-08-15T15:48:29Z</dcterms:modified>
</cp:coreProperties>
</file>